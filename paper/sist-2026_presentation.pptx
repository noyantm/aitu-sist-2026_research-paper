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5" r:id="rId1"/>
  </p:sldMasterIdLst>
  <p:notesMasterIdLst>
    <p:notesMasterId r:id="rId12"/>
  </p:notesMasterIdLst>
  <p:sldIdLst>
    <p:sldId id="256" r:id="rId2"/>
    <p:sldId id="327" r:id="rId3"/>
    <p:sldId id="328" r:id="rId4"/>
    <p:sldId id="329" r:id="rId5"/>
    <p:sldId id="330" r:id="rId6"/>
    <p:sldId id="331" r:id="rId7"/>
    <p:sldId id="332" r:id="rId8"/>
    <p:sldId id="333" r:id="rId9"/>
    <p:sldId id="334" r:id="rId10"/>
    <p:sldId id="33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FF"/>
    <a:srgbClr val="D60093"/>
    <a:srgbClr val="0033CC"/>
    <a:srgbClr val="0066FF"/>
    <a:srgbClr val="3366FF"/>
    <a:srgbClr val="CC99FF"/>
    <a:srgbClr val="9966FF"/>
    <a:srgbClr val="66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56"/>
    <p:restoredTop sz="94654"/>
  </p:normalViewPr>
  <p:slideViewPr>
    <p:cSldViewPr>
      <p:cViewPr varScale="1">
        <p:scale>
          <a:sx n="115" d="100"/>
          <a:sy n="115" d="100"/>
        </p:scale>
        <p:origin x="240"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4434" name="Rectangle 2">
            <a:extLst>
              <a:ext uri="{FF2B5EF4-FFF2-40B4-BE49-F238E27FC236}">
                <a16:creationId xmlns:a16="http://schemas.microsoft.com/office/drawing/2014/main" id="{6F460592-22C7-4330-A750-5C8AD387CBA8}"/>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uk-UA"/>
          </a:p>
        </p:txBody>
      </p:sp>
      <p:sp>
        <p:nvSpPr>
          <p:cNvPr id="274435" name="Rectangle 3">
            <a:extLst>
              <a:ext uri="{FF2B5EF4-FFF2-40B4-BE49-F238E27FC236}">
                <a16:creationId xmlns:a16="http://schemas.microsoft.com/office/drawing/2014/main" id="{78DDB80C-666E-40AD-AD69-4BB9EC2BAD64}"/>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cs typeface="Arial" pitchFamily="34" charset="0"/>
              </a:defRPr>
            </a:lvl1pPr>
          </a:lstStyle>
          <a:p>
            <a:pPr>
              <a:defRPr/>
            </a:pPr>
            <a:endParaRPr lang="uk-UA"/>
          </a:p>
        </p:txBody>
      </p:sp>
      <p:sp>
        <p:nvSpPr>
          <p:cNvPr id="3076" name="Rectangle 4">
            <a:extLst>
              <a:ext uri="{FF2B5EF4-FFF2-40B4-BE49-F238E27FC236}">
                <a16:creationId xmlns:a16="http://schemas.microsoft.com/office/drawing/2014/main" id="{7C1B8DE5-7C4C-414B-AE2A-98961FB04C06}"/>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74437" name="Rectangle 5">
            <a:extLst>
              <a:ext uri="{FF2B5EF4-FFF2-40B4-BE49-F238E27FC236}">
                <a16:creationId xmlns:a16="http://schemas.microsoft.com/office/drawing/2014/main" id="{A7004AE7-719D-4D9D-9704-9173BE0A5641}"/>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uk-UA" noProof="0"/>
              <a:t>Образец текста</a:t>
            </a:r>
          </a:p>
          <a:p>
            <a:pPr lvl="1"/>
            <a:r>
              <a:rPr lang="uk-UA" noProof="0"/>
              <a:t>Второй уровень</a:t>
            </a:r>
          </a:p>
          <a:p>
            <a:pPr lvl="2"/>
            <a:r>
              <a:rPr lang="uk-UA" noProof="0"/>
              <a:t>Третий уровень</a:t>
            </a:r>
          </a:p>
          <a:p>
            <a:pPr lvl="3"/>
            <a:r>
              <a:rPr lang="uk-UA" noProof="0"/>
              <a:t>Четвертый уровень</a:t>
            </a:r>
          </a:p>
          <a:p>
            <a:pPr lvl="4"/>
            <a:r>
              <a:rPr lang="uk-UA" noProof="0"/>
              <a:t>Пятый уровень</a:t>
            </a:r>
          </a:p>
        </p:txBody>
      </p:sp>
      <p:sp>
        <p:nvSpPr>
          <p:cNvPr id="274438" name="Rectangle 6">
            <a:extLst>
              <a:ext uri="{FF2B5EF4-FFF2-40B4-BE49-F238E27FC236}">
                <a16:creationId xmlns:a16="http://schemas.microsoft.com/office/drawing/2014/main" id="{85B5561C-F6A6-4234-A6F6-A9AA8C541A34}"/>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uk-UA"/>
          </a:p>
        </p:txBody>
      </p:sp>
      <p:sp>
        <p:nvSpPr>
          <p:cNvPr id="274439" name="Rectangle 7">
            <a:extLst>
              <a:ext uri="{FF2B5EF4-FFF2-40B4-BE49-F238E27FC236}">
                <a16:creationId xmlns:a16="http://schemas.microsoft.com/office/drawing/2014/main" id="{E364F181-7D63-4733-A793-311D53230A5D}"/>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71D317BC-4C9E-45D5-A0FD-67F4CB11C815}" type="slidenum">
              <a:rPr lang="uk-UA" altLang="ru-RU"/>
              <a:pPr>
                <a:defRPr/>
              </a:pPr>
              <a:t>‹#›</a:t>
            </a:fld>
            <a:endParaRPr lang="uk-UA" altLang="ru-RU"/>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KZ" dirty="0"/>
          </a:p>
        </p:txBody>
      </p:sp>
      <p:sp>
        <p:nvSpPr>
          <p:cNvPr id="4" name="Номер слайда 3"/>
          <p:cNvSpPr>
            <a:spLocks noGrp="1"/>
          </p:cNvSpPr>
          <p:nvPr>
            <p:ph type="sldNum" sz="quarter" idx="5"/>
          </p:nvPr>
        </p:nvSpPr>
        <p:spPr/>
        <p:txBody>
          <a:bodyPr/>
          <a:lstStyle/>
          <a:p>
            <a:pPr>
              <a:defRPr/>
            </a:pPr>
            <a:fld id="{71D317BC-4C9E-45D5-A0FD-67F4CB11C815}" type="slidenum">
              <a:rPr lang="uk-UA" altLang="ru-RU" smtClean="0"/>
              <a:pPr>
                <a:defRPr/>
              </a:pPr>
              <a:t>1</a:t>
            </a:fld>
            <a:endParaRPr lang="uk-UA" altLang="ru-RU"/>
          </a:p>
        </p:txBody>
      </p:sp>
    </p:spTree>
    <p:extLst>
      <p:ext uri="{BB962C8B-B14F-4D97-AF65-F5344CB8AC3E}">
        <p14:creationId xmlns:p14="http://schemas.microsoft.com/office/powerpoint/2010/main" val="3717518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DBD7D4C-49E3-4B07-900F-8AF0D69D96C3}"/>
              </a:ext>
            </a:extLst>
          </p:cNvPr>
          <p:cNvSpPr>
            <a:spLocks noGrp="1"/>
          </p:cNvSpPr>
          <p:nvPr>
            <p:ph type="ctrTitle"/>
          </p:nvPr>
        </p:nvSpPr>
        <p:spPr>
          <a:xfrm>
            <a:off x="1143000" y="1122363"/>
            <a:ext cx="6858000" cy="2387600"/>
          </a:xfrm>
        </p:spPr>
        <p:txBody>
          <a:bodyPr anchor="b"/>
          <a:lstStyle>
            <a:lvl1pPr algn="ctr">
              <a:defRPr sz="4500"/>
            </a:lvl1pPr>
          </a:lstStyle>
          <a:p>
            <a:r>
              <a:rPr lang="ru-RU"/>
              <a:t>Образец заголовка</a:t>
            </a:r>
            <a:endParaRPr lang="en-US"/>
          </a:p>
        </p:txBody>
      </p:sp>
      <p:sp>
        <p:nvSpPr>
          <p:cNvPr id="3" name="Подзаголовок 2">
            <a:extLst>
              <a:ext uri="{FF2B5EF4-FFF2-40B4-BE49-F238E27FC236}">
                <a16:creationId xmlns:a16="http://schemas.microsoft.com/office/drawing/2014/main" id="{B6369CE3-E2E3-4304-89D3-30FA94243305}"/>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ru-RU"/>
              <a:t>Образец подзаголовка</a:t>
            </a:r>
            <a:endParaRPr lang="en-US"/>
          </a:p>
        </p:txBody>
      </p:sp>
      <p:sp>
        <p:nvSpPr>
          <p:cNvPr id="4" name="Дата 3">
            <a:extLst>
              <a:ext uri="{FF2B5EF4-FFF2-40B4-BE49-F238E27FC236}">
                <a16:creationId xmlns:a16="http://schemas.microsoft.com/office/drawing/2014/main" id="{7BE98008-15C4-4C33-8340-AC51EA38575F}"/>
              </a:ext>
            </a:extLst>
          </p:cNvPr>
          <p:cNvSpPr>
            <a:spLocks noGrp="1"/>
          </p:cNvSpPr>
          <p:nvPr>
            <p:ph type="dt" sz="half" idx="10"/>
          </p:nvPr>
        </p:nvSpPr>
        <p:spPr/>
        <p:txBody>
          <a:bodyPr/>
          <a:lstStyle/>
          <a:p>
            <a:pPr>
              <a:defRPr/>
            </a:pPr>
            <a:endParaRPr lang="ru-RU"/>
          </a:p>
        </p:txBody>
      </p:sp>
      <p:sp>
        <p:nvSpPr>
          <p:cNvPr id="5" name="Нижний колонтитул 4">
            <a:extLst>
              <a:ext uri="{FF2B5EF4-FFF2-40B4-BE49-F238E27FC236}">
                <a16:creationId xmlns:a16="http://schemas.microsoft.com/office/drawing/2014/main" id="{CCCF3CE9-8517-464E-99E1-9EA830D7E89E}"/>
              </a:ext>
            </a:extLst>
          </p:cNvPr>
          <p:cNvSpPr>
            <a:spLocks noGrp="1"/>
          </p:cNvSpPr>
          <p:nvPr>
            <p:ph type="ftr" sz="quarter" idx="11"/>
          </p:nvPr>
        </p:nvSpPr>
        <p:spPr/>
        <p:txBody>
          <a:bodyPr/>
          <a:lstStyle/>
          <a:p>
            <a:pPr>
              <a:defRPr/>
            </a:pPr>
            <a:endParaRPr lang="ru-RU"/>
          </a:p>
        </p:txBody>
      </p:sp>
      <p:sp>
        <p:nvSpPr>
          <p:cNvPr id="6" name="Номер слайда 5">
            <a:extLst>
              <a:ext uri="{FF2B5EF4-FFF2-40B4-BE49-F238E27FC236}">
                <a16:creationId xmlns:a16="http://schemas.microsoft.com/office/drawing/2014/main" id="{A64F6D60-8F2E-4113-A082-3A8AA649E159}"/>
              </a:ext>
            </a:extLst>
          </p:cNvPr>
          <p:cNvSpPr>
            <a:spLocks noGrp="1"/>
          </p:cNvSpPr>
          <p:nvPr>
            <p:ph type="sldNum" sz="quarter" idx="12"/>
          </p:nvPr>
        </p:nvSpPr>
        <p:spPr/>
        <p:txBody>
          <a:bodyPr/>
          <a:lstStyle/>
          <a:p>
            <a:pPr>
              <a:defRPr/>
            </a:pPr>
            <a:fld id="{BC7B166E-3878-4F17-879D-DCD37DC2FE3B}" type="slidenum">
              <a:rPr lang="ru-RU" altLang="ru-RU" smtClean="0"/>
              <a:pPr>
                <a:defRPr/>
              </a:pPr>
              <a:t>‹#›</a:t>
            </a:fld>
            <a:endParaRPr lang="ru-RU" altLang="ru-RU"/>
          </a:p>
        </p:txBody>
      </p:sp>
    </p:spTree>
    <p:extLst>
      <p:ext uri="{BB962C8B-B14F-4D97-AF65-F5344CB8AC3E}">
        <p14:creationId xmlns:p14="http://schemas.microsoft.com/office/powerpoint/2010/main" val="109643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FAF9423-8C27-4B3E-AFDC-A0EA71DC56E7}"/>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64C574BC-F7B5-4EFB-BF9B-70C9D57175E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4982C10B-78DA-46EF-AA07-D86ED2F8FEDD}"/>
              </a:ext>
            </a:extLst>
          </p:cNvPr>
          <p:cNvSpPr>
            <a:spLocks noGrp="1"/>
          </p:cNvSpPr>
          <p:nvPr>
            <p:ph type="dt" sz="half" idx="10"/>
          </p:nvPr>
        </p:nvSpPr>
        <p:spPr/>
        <p:txBody>
          <a:bodyPr/>
          <a:lstStyle/>
          <a:p>
            <a:pPr>
              <a:defRPr/>
            </a:pPr>
            <a:endParaRPr lang="ru-RU"/>
          </a:p>
        </p:txBody>
      </p:sp>
      <p:sp>
        <p:nvSpPr>
          <p:cNvPr id="5" name="Нижний колонтитул 4">
            <a:extLst>
              <a:ext uri="{FF2B5EF4-FFF2-40B4-BE49-F238E27FC236}">
                <a16:creationId xmlns:a16="http://schemas.microsoft.com/office/drawing/2014/main" id="{08448B3A-A198-4956-807F-48D90E31A973}"/>
              </a:ext>
            </a:extLst>
          </p:cNvPr>
          <p:cNvSpPr>
            <a:spLocks noGrp="1"/>
          </p:cNvSpPr>
          <p:nvPr>
            <p:ph type="ftr" sz="quarter" idx="11"/>
          </p:nvPr>
        </p:nvSpPr>
        <p:spPr/>
        <p:txBody>
          <a:bodyPr/>
          <a:lstStyle/>
          <a:p>
            <a:pPr>
              <a:defRPr/>
            </a:pPr>
            <a:endParaRPr lang="ru-RU"/>
          </a:p>
        </p:txBody>
      </p:sp>
      <p:sp>
        <p:nvSpPr>
          <p:cNvPr id="6" name="Номер слайда 5">
            <a:extLst>
              <a:ext uri="{FF2B5EF4-FFF2-40B4-BE49-F238E27FC236}">
                <a16:creationId xmlns:a16="http://schemas.microsoft.com/office/drawing/2014/main" id="{1770ECCA-8BFB-46BB-B9BE-81049AD62614}"/>
              </a:ext>
            </a:extLst>
          </p:cNvPr>
          <p:cNvSpPr>
            <a:spLocks noGrp="1"/>
          </p:cNvSpPr>
          <p:nvPr>
            <p:ph type="sldNum" sz="quarter" idx="12"/>
          </p:nvPr>
        </p:nvSpPr>
        <p:spPr/>
        <p:txBody>
          <a:bodyPr/>
          <a:lstStyle/>
          <a:p>
            <a:pPr>
              <a:defRPr/>
            </a:pPr>
            <a:fld id="{2F2F8E54-A1F0-4F22-984A-990C0A3E615D}" type="slidenum">
              <a:rPr lang="ru-RU" altLang="ru-RU" smtClean="0"/>
              <a:pPr>
                <a:defRPr/>
              </a:pPr>
              <a:t>‹#›</a:t>
            </a:fld>
            <a:endParaRPr lang="ru-RU" altLang="ru-RU"/>
          </a:p>
        </p:txBody>
      </p:sp>
    </p:spTree>
    <p:extLst>
      <p:ext uri="{BB962C8B-B14F-4D97-AF65-F5344CB8AC3E}">
        <p14:creationId xmlns:p14="http://schemas.microsoft.com/office/powerpoint/2010/main" val="2965245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56D966-8723-421E-BA7F-E1B084CBA6F2}"/>
              </a:ext>
            </a:extLst>
          </p:cNvPr>
          <p:cNvSpPr>
            <a:spLocks noGrp="1"/>
          </p:cNvSpPr>
          <p:nvPr>
            <p:ph type="title"/>
          </p:nvPr>
        </p:nvSpPr>
        <p:spPr>
          <a:xfrm>
            <a:off x="623888" y="1709739"/>
            <a:ext cx="7886700" cy="2852737"/>
          </a:xfrm>
        </p:spPr>
        <p:txBody>
          <a:bodyPr anchor="b"/>
          <a:lstStyle>
            <a:lvl1pPr>
              <a:defRPr sz="4500"/>
            </a:lvl1pPr>
          </a:lstStyle>
          <a:p>
            <a:r>
              <a:rPr lang="ru-RU"/>
              <a:t>Образец заголовка</a:t>
            </a:r>
            <a:endParaRPr lang="en-US"/>
          </a:p>
        </p:txBody>
      </p:sp>
      <p:sp>
        <p:nvSpPr>
          <p:cNvPr id="3" name="Текст 2">
            <a:extLst>
              <a:ext uri="{FF2B5EF4-FFF2-40B4-BE49-F238E27FC236}">
                <a16:creationId xmlns:a16="http://schemas.microsoft.com/office/drawing/2014/main" id="{DA6966C2-5310-4592-9C20-4871CADD7AF5}"/>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B9547462-6A19-483B-8E97-B5E3F527FD23}"/>
              </a:ext>
            </a:extLst>
          </p:cNvPr>
          <p:cNvSpPr>
            <a:spLocks noGrp="1"/>
          </p:cNvSpPr>
          <p:nvPr>
            <p:ph type="dt" sz="half" idx="10"/>
          </p:nvPr>
        </p:nvSpPr>
        <p:spPr/>
        <p:txBody>
          <a:bodyPr/>
          <a:lstStyle/>
          <a:p>
            <a:pPr>
              <a:defRPr/>
            </a:pPr>
            <a:endParaRPr lang="ru-RU"/>
          </a:p>
        </p:txBody>
      </p:sp>
      <p:sp>
        <p:nvSpPr>
          <p:cNvPr id="5" name="Нижний колонтитул 4">
            <a:extLst>
              <a:ext uri="{FF2B5EF4-FFF2-40B4-BE49-F238E27FC236}">
                <a16:creationId xmlns:a16="http://schemas.microsoft.com/office/drawing/2014/main" id="{EE006CFA-A5A7-4FD8-A3BE-F817647A79A0}"/>
              </a:ext>
            </a:extLst>
          </p:cNvPr>
          <p:cNvSpPr>
            <a:spLocks noGrp="1"/>
          </p:cNvSpPr>
          <p:nvPr>
            <p:ph type="ftr" sz="quarter" idx="11"/>
          </p:nvPr>
        </p:nvSpPr>
        <p:spPr/>
        <p:txBody>
          <a:bodyPr/>
          <a:lstStyle/>
          <a:p>
            <a:pPr>
              <a:defRPr/>
            </a:pPr>
            <a:endParaRPr lang="ru-RU"/>
          </a:p>
        </p:txBody>
      </p:sp>
      <p:sp>
        <p:nvSpPr>
          <p:cNvPr id="6" name="Номер слайда 5">
            <a:extLst>
              <a:ext uri="{FF2B5EF4-FFF2-40B4-BE49-F238E27FC236}">
                <a16:creationId xmlns:a16="http://schemas.microsoft.com/office/drawing/2014/main" id="{663E6EF2-B59E-479F-9417-499255B03673}"/>
              </a:ext>
            </a:extLst>
          </p:cNvPr>
          <p:cNvSpPr>
            <a:spLocks noGrp="1"/>
          </p:cNvSpPr>
          <p:nvPr>
            <p:ph type="sldNum" sz="quarter" idx="12"/>
          </p:nvPr>
        </p:nvSpPr>
        <p:spPr/>
        <p:txBody>
          <a:bodyPr/>
          <a:lstStyle/>
          <a:p>
            <a:pPr>
              <a:defRPr/>
            </a:pPr>
            <a:fld id="{D8C2D81D-77E1-4E9F-B670-E1454C0A9750}" type="slidenum">
              <a:rPr lang="ru-RU" altLang="ru-RU" smtClean="0"/>
              <a:pPr>
                <a:defRPr/>
              </a:pPr>
              <a:t>‹#›</a:t>
            </a:fld>
            <a:endParaRPr lang="ru-RU" altLang="ru-RU"/>
          </a:p>
        </p:txBody>
      </p:sp>
    </p:spTree>
    <p:extLst>
      <p:ext uri="{BB962C8B-B14F-4D97-AF65-F5344CB8AC3E}">
        <p14:creationId xmlns:p14="http://schemas.microsoft.com/office/powerpoint/2010/main" val="3785292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01BC41-68D4-4955-A4AB-BA3DB7BD8D60}"/>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96AA8509-1CEB-443E-B416-111D9C5B2A1C}"/>
              </a:ext>
            </a:extLst>
          </p:cNvPr>
          <p:cNvSpPr>
            <a:spLocks noGrp="1"/>
          </p:cNvSpPr>
          <p:nvPr>
            <p:ph sz="half" idx="1"/>
          </p:nvPr>
        </p:nvSpPr>
        <p:spPr>
          <a:xfrm>
            <a:off x="628650" y="1825625"/>
            <a:ext cx="38862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Объект 3">
            <a:extLst>
              <a:ext uri="{FF2B5EF4-FFF2-40B4-BE49-F238E27FC236}">
                <a16:creationId xmlns:a16="http://schemas.microsoft.com/office/drawing/2014/main" id="{968C6D98-763D-44EB-83B4-152309AA37BC}"/>
              </a:ext>
            </a:extLst>
          </p:cNvPr>
          <p:cNvSpPr>
            <a:spLocks noGrp="1"/>
          </p:cNvSpPr>
          <p:nvPr>
            <p:ph sz="half" idx="2"/>
          </p:nvPr>
        </p:nvSpPr>
        <p:spPr>
          <a:xfrm>
            <a:off x="4629150" y="1825625"/>
            <a:ext cx="38862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Дата 4">
            <a:extLst>
              <a:ext uri="{FF2B5EF4-FFF2-40B4-BE49-F238E27FC236}">
                <a16:creationId xmlns:a16="http://schemas.microsoft.com/office/drawing/2014/main" id="{828A9DB5-471C-413D-BB1B-CDC4159629C5}"/>
              </a:ext>
            </a:extLst>
          </p:cNvPr>
          <p:cNvSpPr>
            <a:spLocks noGrp="1"/>
          </p:cNvSpPr>
          <p:nvPr>
            <p:ph type="dt" sz="half" idx="10"/>
          </p:nvPr>
        </p:nvSpPr>
        <p:spPr/>
        <p:txBody>
          <a:bodyPr/>
          <a:lstStyle/>
          <a:p>
            <a:pPr>
              <a:defRPr/>
            </a:pPr>
            <a:endParaRPr lang="ru-RU"/>
          </a:p>
        </p:txBody>
      </p:sp>
      <p:sp>
        <p:nvSpPr>
          <p:cNvPr id="6" name="Нижний колонтитул 5">
            <a:extLst>
              <a:ext uri="{FF2B5EF4-FFF2-40B4-BE49-F238E27FC236}">
                <a16:creationId xmlns:a16="http://schemas.microsoft.com/office/drawing/2014/main" id="{5A5EE6B3-5FE5-43BF-88B8-4ADFA0DB533C}"/>
              </a:ext>
            </a:extLst>
          </p:cNvPr>
          <p:cNvSpPr>
            <a:spLocks noGrp="1"/>
          </p:cNvSpPr>
          <p:nvPr>
            <p:ph type="ftr" sz="quarter" idx="11"/>
          </p:nvPr>
        </p:nvSpPr>
        <p:spPr/>
        <p:txBody>
          <a:bodyPr/>
          <a:lstStyle/>
          <a:p>
            <a:pPr>
              <a:defRPr/>
            </a:pPr>
            <a:endParaRPr lang="ru-RU"/>
          </a:p>
        </p:txBody>
      </p:sp>
      <p:sp>
        <p:nvSpPr>
          <p:cNvPr id="7" name="Номер слайда 6">
            <a:extLst>
              <a:ext uri="{FF2B5EF4-FFF2-40B4-BE49-F238E27FC236}">
                <a16:creationId xmlns:a16="http://schemas.microsoft.com/office/drawing/2014/main" id="{4E81800D-3C1A-421C-8015-C647900ED5BC}"/>
              </a:ext>
            </a:extLst>
          </p:cNvPr>
          <p:cNvSpPr>
            <a:spLocks noGrp="1"/>
          </p:cNvSpPr>
          <p:nvPr>
            <p:ph type="sldNum" sz="quarter" idx="12"/>
          </p:nvPr>
        </p:nvSpPr>
        <p:spPr/>
        <p:txBody>
          <a:bodyPr/>
          <a:lstStyle/>
          <a:p>
            <a:pPr>
              <a:defRPr/>
            </a:pPr>
            <a:fld id="{1F912CCC-3F2A-4A55-8BAE-29A5200F2ED1}" type="slidenum">
              <a:rPr lang="ru-RU" altLang="ru-RU" smtClean="0"/>
              <a:pPr>
                <a:defRPr/>
              </a:pPr>
              <a:t>‹#›</a:t>
            </a:fld>
            <a:endParaRPr lang="ru-RU" altLang="ru-RU"/>
          </a:p>
        </p:txBody>
      </p:sp>
    </p:spTree>
    <p:extLst>
      <p:ext uri="{BB962C8B-B14F-4D97-AF65-F5344CB8AC3E}">
        <p14:creationId xmlns:p14="http://schemas.microsoft.com/office/powerpoint/2010/main" val="1372542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ED5E8A7-6CC0-4C8B-AEBC-B719D3116F48}"/>
              </a:ext>
            </a:extLst>
          </p:cNvPr>
          <p:cNvSpPr>
            <a:spLocks noGrp="1"/>
          </p:cNvSpPr>
          <p:nvPr>
            <p:ph type="title"/>
          </p:nvPr>
        </p:nvSpPr>
        <p:spPr>
          <a:xfrm>
            <a:off x="629841" y="365126"/>
            <a:ext cx="7886700" cy="1325563"/>
          </a:xfrm>
        </p:spPr>
        <p:txBody>
          <a:bodyPr/>
          <a:lstStyle/>
          <a:p>
            <a:r>
              <a:rPr lang="ru-RU"/>
              <a:t>Образец заголовка</a:t>
            </a:r>
            <a:endParaRPr lang="en-US"/>
          </a:p>
        </p:txBody>
      </p:sp>
      <p:sp>
        <p:nvSpPr>
          <p:cNvPr id="3" name="Текст 2">
            <a:extLst>
              <a:ext uri="{FF2B5EF4-FFF2-40B4-BE49-F238E27FC236}">
                <a16:creationId xmlns:a16="http://schemas.microsoft.com/office/drawing/2014/main" id="{D82CAE24-5899-407B-8959-36283D481C4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4" name="Объект 3">
            <a:extLst>
              <a:ext uri="{FF2B5EF4-FFF2-40B4-BE49-F238E27FC236}">
                <a16:creationId xmlns:a16="http://schemas.microsoft.com/office/drawing/2014/main" id="{E462C969-5E37-46DE-AB17-CE834D8F7D65}"/>
              </a:ext>
            </a:extLst>
          </p:cNvPr>
          <p:cNvSpPr>
            <a:spLocks noGrp="1"/>
          </p:cNvSpPr>
          <p:nvPr>
            <p:ph sz="half" idx="2"/>
          </p:nvPr>
        </p:nvSpPr>
        <p:spPr>
          <a:xfrm>
            <a:off x="629842" y="2505075"/>
            <a:ext cx="3868340"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Текст 4">
            <a:extLst>
              <a:ext uri="{FF2B5EF4-FFF2-40B4-BE49-F238E27FC236}">
                <a16:creationId xmlns:a16="http://schemas.microsoft.com/office/drawing/2014/main" id="{C21BF981-9B93-4C24-8D71-E9A56EFA4A0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a:t>Образец текста</a:t>
            </a:r>
          </a:p>
        </p:txBody>
      </p:sp>
      <p:sp>
        <p:nvSpPr>
          <p:cNvPr id="6" name="Объект 5">
            <a:extLst>
              <a:ext uri="{FF2B5EF4-FFF2-40B4-BE49-F238E27FC236}">
                <a16:creationId xmlns:a16="http://schemas.microsoft.com/office/drawing/2014/main" id="{B91BE6E1-4932-4432-8E2B-9C492E0D10B4}"/>
              </a:ext>
            </a:extLst>
          </p:cNvPr>
          <p:cNvSpPr>
            <a:spLocks noGrp="1"/>
          </p:cNvSpPr>
          <p:nvPr>
            <p:ph sz="quarter" idx="4"/>
          </p:nvPr>
        </p:nvSpPr>
        <p:spPr>
          <a:xfrm>
            <a:off x="4629150" y="2505075"/>
            <a:ext cx="3887391"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Дата 6">
            <a:extLst>
              <a:ext uri="{FF2B5EF4-FFF2-40B4-BE49-F238E27FC236}">
                <a16:creationId xmlns:a16="http://schemas.microsoft.com/office/drawing/2014/main" id="{4A89FD26-13A7-4C6C-BA5E-E04F3F67720A}"/>
              </a:ext>
            </a:extLst>
          </p:cNvPr>
          <p:cNvSpPr>
            <a:spLocks noGrp="1"/>
          </p:cNvSpPr>
          <p:nvPr>
            <p:ph type="dt" sz="half" idx="10"/>
          </p:nvPr>
        </p:nvSpPr>
        <p:spPr/>
        <p:txBody>
          <a:bodyPr/>
          <a:lstStyle/>
          <a:p>
            <a:pPr>
              <a:defRPr/>
            </a:pPr>
            <a:endParaRPr lang="ru-RU"/>
          </a:p>
        </p:txBody>
      </p:sp>
      <p:sp>
        <p:nvSpPr>
          <p:cNvPr id="8" name="Нижний колонтитул 7">
            <a:extLst>
              <a:ext uri="{FF2B5EF4-FFF2-40B4-BE49-F238E27FC236}">
                <a16:creationId xmlns:a16="http://schemas.microsoft.com/office/drawing/2014/main" id="{DCB3C4E5-5CD7-4723-95B1-F85C4C4371C0}"/>
              </a:ext>
            </a:extLst>
          </p:cNvPr>
          <p:cNvSpPr>
            <a:spLocks noGrp="1"/>
          </p:cNvSpPr>
          <p:nvPr>
            <p:ph type="ftr" sz="quarter" idx="11"/>
          </p:nvPr>
        </p:nvSpPr>
        <p:spPr/>
        <p:txBody>
          <a:bodyPr/>
          <a:lstStyle/>
          <a:p>
            <a:pPr>
              <a:defRPr/>
            </a:pPr>
            <a:endParaRPr lang="ru-RU"/>
          </a:p>
        </p:txBody>
      </p:sp>
      <p:sp>
        <p:nvSpPr>
          <p:cNvPr id="9" name="Номер слайда 8">
            <a:extLst>
              <a:ext uri="{FF2B5EF4-FFF2-40B4-BE49-F238E27FC236}">
                <a16:creationId xmlns:a16="http://schemas.microsoft.com/office/drawing/2014/main" id="{C80D894B-D6FA-4C18-AB85-3D1B29C2BD77}"/>
              </a:ext>
            </a:extLst>
          </p:cNvPr>
          <p:cNvSpPr>
            <a:spLocks noGrp="1"/>
          </p:cNvSpPr>
          <p:nvPr>
            <p:ph type="sldNum" sz="quarter" idx="12"/>
          </p:nvPr>
        </p:nvSpPr>
        <p:spPr/>
        <p:txBody>
          <a:bodyPr/>
          <a:lstStyle/>
          <a:p>
            <a:pPr>
              <a:defRPr/>
            </a:pPr>
            <a:fld id="{9CF1C303-0217-4F04-9943-2EB2E013F9F1}" type="slidenum">
              <a:rPr lang="ru-RU" altLang="ru-RU" smtClean="0"/>
              <a:pPr>
                <a:defRPr/>
              </a:pPr>
              <a:t>‹#›</a:t>
            </a:fld>
            <a:endParaRPr lang="ru-RU" altLang="ru-RU"/>
          </a:p>
        </p:txBody>
      </p:sp>
    </p:spTree>
    <p:extLst>
      <p:ext uri="{BB962C8B-B14F-4D97-AF65-F5344CB8AC3E}">
        <p14:creationId xmlns:p14="http://schemas.microsoft.com/office/powerpoint/2010/main" val="4073089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EA190E-794D-4CC1-9B10-746B1164905F}"/>
              </a:ext>
            </a:extLst>
          </p:cNvPr>
          <p:cNvSpPr>
            <a:spLocks noGrp="1"/>
          </p:cNvSpPr>
          <p:nvPr>
            <p:ph type="title"/>
          </p:nvPr>
        </p:nvSpPr>
        <p:spPr/>
        <p:txBody>
          <a:bodyPr/>
          <a:lstStyle/>
          <a:p>
            <a:r>
              <a:rPr lang="ru-RU"/>
              <a:t>Образец заголовка</a:t>
            </a:r>
            <a:endParaRPr lang="en-US"/>
          </a:p>
        </p:txBody>
      </p:sp>
      <p:sp>
        <p:nvSpPr>
          <p:cNvPr id="3" name="Дата 2">
            <a:extLst>
              <a:ext uri="{FF2B5EF4-FFF2-40B4-BE49-F238E27FC236}">
                <a16:creationId xmlns:a16="http://schemas.microsoft.com/office/drawing/2014/main" id="{DBD64B45-E1CF-4E00-A30E-B603A32BA226}"/>
              </a:ext>
            </a:extLst>
          </p:cNvPr>
          <p:cNvSpPr>
            <a:spLocks noGrp="1"/>
          </p:cNvSpPr>
          <p:nvPr>
            <p:ph type="dt" sz="half" idx="10"/>
          </p:nvPr>
        </p:nvSpPr>
        <p:spPr/>
        <p:txBody>
          <a:bodyPr/>
          <a:lstStyle/>
          <a:p>
            <a:pPr>
              <a:defRPr/>
            </a:pPr>
            <a:endParaRPr lang="ru-RU"/>
          </a:p>
        </p:txBody>
      </p:sp>
      <p:sp>
        <p:nvSpPr>
          <p:cNvPr id="4" name="Нижний колонтитул 3">
            <a:extLst>
              <a:ext uri="{FF2B5EF4-FFF2-40B4-BE49-F238E27FC236}">
                <a16:creationId xmlns:a16="http://schemas.microsoft.com/office/drawing/2014/main" id="{C9419A19-DEE6-49AD-AD9E-F6B6D2799599}"/>
              </a:ext>
            </a:extLst>
          </p:cNvPr>
          <p:cNvSpPr>
            <a:spLocks noGrp="1"/>
          </p:cNvSpPr>
          <p:nvPr>
            <p:ph type="ftr" sz="quarter" idx="11"/>
          </p:nvPr>
        </p:nvSpPr>
        <p:spPr/>
        <p:txBody>
          <a:bodyPr/>
          <a:lstStyle/>
          <a:p>
            <a:pPr>
              <a:defRPr/>
            </a:pPr>
            <a:endParaRPr lang="ru-RU"/>
          </a:p>
        </p:txBody>
      </p:sp>
      <p:sp>
        <p:nvSpPr>
          <p:cNvPr id="5" name="Номер слайда 4">
            <a:extLst>
              <a:ext uri="{FF2B5EF4-FFF2-40B4-BE49-F238E27FC236}">
                <a16:creationId xmlns:a16="http://schemas.microsoft.com/office/drawing/2014/main" id="{E34A6E3F-1595-4B94-A766-4F73254EA607}"/>
              </a:ext>
            </a:extLst>
          </p:cNvPr>
          <p:cNvSpPr>
            <a:spLocks noGrp="1"/>
          </p:cNvSpPr>
          <p:nvPr>
            <p:ph type="sldNum" sz="quarter" idx="12"/>
          </p:nvPr>
        </p:nvSpPr>
        <p:spPr/>
        <p:txBody>
          <a:bodyPr/>
          <a:lstStyle/>
          <a:p>
            <a:pPr>
              <a:defRPr/>
            </a:pPr>
            <a:fld id="{2FC77FB5-FF4A-418E-89CC-287E9B60BCEA}" type="slidenum">
              <a:rPr lang="ru-RU" altLang="ru-RU" smtClean="0"/>
              <a:pPr>
                <a:defRPr/>
              </a:pPr>
              <a:t>‹#›</a:t>
            </a:fld>
            <a:endParaRPr lang="ru-RU" altLang="ru-RU"/>
          </a:p>
        </p:txBody>
      </p:sp>
    </p:spTree>
    <p:extLst>
      <p:ext uri="{BB962C8B-B14F-4D97-AF65-F5344CB8AC3E}">
        <p14:creationId xmlns:p14="http://schemas.microsoft.com/office/powerpoint/2010/main" val="538679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69268E10-08DF-4C96-91D7-5FE08013B5E2}"/>
              </a:ext>
            </a:extLst>
          </p:cNvPr>
          <p:cNvSpPr>
            <a:spLocks noGrp="1"/>
          </p:cNvSpPr>
          <p:nvPr>
            <p:ph type="dt" sz="half" idx="10"/>
          </p:nvPr>
        </p:nvSpPr>
        <p:spPr/>
        <p:txBody>
          <a:bodyPr/>
          <a:lstStyle/>
          <a:p>
            <a:pPr>
              <a:defRPr/>
            </a:pPr>
            <a:endParaRPr lang="ru-RU"/>
          </a:p>
        </p:txBody>
      </p:sp>
      <p:sp>
        <p:nvSpPr>
          <p:cNvPr id="3" name="Нижний колонтитул 2">
            <a:extLst>
              <a:ext uri="{FF2B5EF4-FFF2-40B4-BE49-F238E27FC236}">
                <a16:creationId xmlns:a16="http://schemas.microsoft.com/office/drawing/2014/main" id="{F76DAEBC-1212-46C9-BCFF-A0C4E8B584DA}"/>
              </a:ext>
            </a:extLst>
          </p:cNvPr>
          <p:cNvSpPr>
            <a:spLocks noGrp="1"/>
          </p:cNvSpPr>
          <p:nvPr>
            <p:ph type="ftr" sz="quarter" idx="11"/>
          </p:nvPr>
        </p:nvSpPr>
        <p:spPr/>
        <p:txBody>
          <a:bodyPr/>
          <a:lstStyle/>
          <a:p>
            <a:pPr>
              <a:defRPr/>
            </a:pPr>
            <a:endParaRPr lang="ru-RU"/>
          </a:p>
        </p:txBody>
      </p:sp>
      <p:sp>
        <p:nvSpPr>
          <p:cNvPr id="4" name="Номер слайда 3">
            <a:extLst>
              <a:ext uri="{FF2B5EF4-FFF2-40B4-BE49-F238E27FC236}">
                <a16:creationId xmlns:a16="http://schemas.microsoft.com/office/drawing/2014/main" id="{51962375-0573-457B-AC08-EC533A9276D6}"/>
              </a:ext>
            </a:extLst>
          </p:cNvPr>
          <p:cNvSpPr>
            <a:spLocks noGrp="1"/>
          </p:cNvSpPr>
          <p:nvPr>
            <p:ph type="sldNum" sz="quarter" idx="12"/>
          </p:nvPr>
        </p:nvSpPr>
        <p:spPr/>
        <p:txBody>
          <a:bodyPr/>
          <a:lstStyle/>
          <a:p>
            <a:pPr>
              <a:defRPr/>
            </a:pPr>
            <a:fld id="{17974857-6A6A-4039-A60C-80738F2EBA06}" type="slidenum">
              <a:rPr lang="ru-RU" altLang="ru-RU" smtClean="0"/>
              <a:pPr>
                <a:defRPr/>
              </a:pPr>
              <a:t>‹#›</a:t>
            </a:fld>
            <a:endParaRPr lang="ru-RU" altLang="ru-RU"/>
          </a:p>
        </p:txBody>
      </p:sp>
    </p:spTree>
    <p:extLst>
      <p:ext uri="{BB962C8B-B14F-4D97-AF65-F5344CB8AC3E}">
        <p14:creationId xmlns:p14="http://schemas.microsoft.com/office/powerpoint/2010/main" val="2780757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26E7DD-6016-4B1B-BE93-43C9CA20C6A9}"/>
              </a:ext>
            </a:extLst>
          </p:cNvPr>
          <p:cNvSpPr>
            <a:spLocks noGrp="1"/>
          </p:cNvSpPr>
          <p:nvPr>
            <p:ph type="title"/>
          </p:nvPr>
        </p:nvSpPr>
        <p:spPr>
          <a:xfrm>
            <a:off x="629841" y="457200"/>
            <a:ext cx="2949178" cy="1600200"/>
          </a:xfrm>
        </p:spPr>
        <p:txBody>
          <a:bodyPr anchor="b"/>
          <a:lstStyle>
            <a:lvl1pPr>
              <a:defRPr sz="2400"/>
            </a:lvl1pPr>
          </a:lstStyle>
          <a:p>
            <a:r>
              <a:rPr lang="ru-RU"/>
              <a:t>Образец заголовка</a:t>
            </a:r>
            <a:endParaRPr lang="en-US"/>
          </a:p>
        </p:txBody>
      </p:sp>
      <p:sp>
        <p:nvSpPr>
          <p:cNvPr id="3" name="Объект 2">
            <a:extLst>
              <a:ext uri="{FF2B5EF4-FFF2-40B4-BE49-F238E27FC236}">
                <a16:creationId xmlns:a16="http://schemas.microsoft.com/office/drawing/2014/main" id="{ECD5F612-3438-45BD-B414-8A917AFED22C}"/>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Текст 3">
            <a:extLst>
              <a:ext uri="{FF2B5EF4-FFF2-40B4-BE49-F238E27FC236}">
                <a16:creationId xmlns:a16="http://schemas.microsoft.com/office/drawing/2014/main" id="{3CFD8712-80D6-429A-8E1C-70256D283D3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p>
        </p:txBody>
      </p:sp>
      <p:sp>
        <p:nvSpPr>
          <p:cNvPr id="5" name="Дата 4">
            <a:extLst>
              <a:ext uri="{FF2B5EF4-FFF2-40B4-BE49-F238E27FC236}">
                <a16:creationId xmlns:a16="http://schemas.microsoft.com/office/drawing/2014/main" id="{FC38044E-D777-4445-A4F2-21FDC1D00DDB}"/>
              </a:ext>
            </a:extLst>
          </p:cNvPr>
          <p:cNvSpPr>
            <a:spLocks noGrp="1"/>
          </p:cNvSpPr>
          <p:nvPr>
            <p:ph type="dt" sz="half" idx="10"/>
          </p:nvPr>
        </p:nvSpPr>
        <p:spPr/>
        <p:txBody>
          <a:bodyPr/>
          <a:lstStyle/>
          <a:p>
            <a:pPr>
              <a:defRPr/>
            </a:pPr>
            <a:endParaRPr lang="ru-RU"/>
          </a:p>
        </p:txBody>
      </p:sp>
      <p:sp>
        <p:nvSpPr>
          <p:cNvPr id="6" name="Нижний колонтитул 5">
            <a:extLst>
              <a:ext uri="{FF2B5EF4-FFF2-40B4-BE49-F238E27FC236}">
                <a16:creationId xmlns:a16="http://schemas.microsoft.com/office/drawing/2014/main" id="{4C5E8F5C-94B6-4DFF-9CD4-19B91B3C4862}"/>
              </a:ext>
            </a:extLst>
          </p:cNvPr>
          <p:cNvSpPr>
            <a:spLocks noGrp="1"/>
          </p:cNvSpPr>
          <p:nvPr>
            <p:ph type="ftr" sz="quarter" idx="11"/>
          </p:nvPr>
        </p:nvSpPr>
        <p:spPr/>
        <p:txBody>
          <a:bodyPr/>
          <a:lstStyle/>
          <a:p>
            <a:pPr>
              <a:defRPr/>
            </a:pPr>
            <a:endParaRPr lang="ru-RU"/>
          </a:p>
        </p:txBody>
      </p:sp>
      <p:sp>
        <p:nvSpPr>
          <p:cNvPr id="7" name="Номер слайда 6">
            <a:extLst>
              <a:ext uri="{FF2B5EF4-FFF2-40B4-BE49-F238E27FC236}">
                <a16:creationId xmlns:a16="http://schemas.microsoft.com/office/drawing/2014/main" id="{A5DE5F8D-2EDC-41D2-9876-A0CFF160E355}"/>
              </a:ext>
            </a:extLst>
          </p:cNvPr>
          <p:cNvSpPr>
            <a:spLocks noGrp="1"/>
          </p:cNvSpPr>
          <p:nvPr>
            <p:ph type="sldNum" sz="quarter" idx="12"/>
          </p:nvPr>
        </p:nvSpPr>
        <p:spPr/>
        <p:txBody>
          <a:bodyPr/>
          <a:lstStyle/>
          <a:p>
            <a:pPr>
              <a:defRPr/>
            </a:pPr>
            <a:fld id="{A09BAF07-60AD-43F7-B569-BEE7FAFF2D9A}" type="slidenum">
              <a:rPr lang="ru-RU" altLang="ru-RU" smtClean="0"/>
              <a:pPr>
                <a:defRPr/>
              </a:pPr>
              <a:t>‹#›</a:t>
            </a:fld>
            <a:endParaRPr lang="ru-RU" altLang="ru-RU"/>
          </a:p>
        </p:txBody>
      </p:sp>
    </p:spTree>
    <p:extLst>
      <p:ext uri="{BB962C8B-B14F-4D97-AF65-F5344CB8AC3E}">
        <p14:creationId xmlns:p14="http://schemas.microsoft.com/office/powerpoint/2010/main" val="2939057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C38B4F5-1A1E-472E-BC92-0436EFA98AB2}"/>
              </a:ext>
            </a:extLst>
          </p:cNvPr>
          <p:cNvSpPr>
            <a:spLocks noGrp="1"/>
          </p:cNvSpPr>
          <p:nvPr>
            <p:ph type="title"/>
          </p:nvPr>
        </p:nvSpPr>
        <p:spPr>
          <a:xfrm>
            <a:off x="629841" y="457200"/>
            <a:ext cx="2949178" cy="1600200"/>
          </a:xfrm>
        </p:spPr>
        <p:txBody>
          <a:bodyPr anchor="b"/>
          <a:lstStyle>
            <a:lvl1pPr>
              <a:defRPr sz="2400"/>
            </a:lvl1pPr>
          </a:lstStyle>
          <a:p>
            <a:r>
              <a:rPr lang="ru-RU"/>
              <a:t>Образец заголовка</a:t>
            </a:r>
            <a:endParaRPr lang="en-US"/>
          </a:p>
        </p:txBody>
      </p:sp>
      <p:sp>
        <p:nvSpPr>
          <p:cNvPr id="3" name="Рисунок 2">
            <a:extLst>
              <a:ext uri="{FF2B5EF4-FFF2-40B4-BE49-F238E27FC236}">
                <a16:creationId xmlns:a16="http://schemas.microsoft.com/office/drawing/2014/main" id="{97FD8651-819B-4A4B-8924-40F9A1F0AD9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Текст 3">
            <a:extLst>
              <a:ext uri="{FF2B5EF4-FFF2-40B4-BE49-F238E27FC236}">
                <a16:creationId xmlns:a16="http://schemas.microsoft.com/office/drawing/2014/main" id="{1CEB7C47-3D4B-4A86-9D83-DB417B0DA87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a:t>Образец текста</a:t>
            </a:r>
          </a:p>
        </p:txBody>
      </p:sp>
      <p:sp>
        <p:nvSpPr>
          <p:cNvPr id="5" name="Дата 4">
            <a:extLst>
              <a:ext uri="{FF2B5EF4-FFF2-40B4-BE49-F238E27FC236}">
                <a16:creationId xmlns:a16="http://schemas.microsoft.com/office/drawing/2014/main" id="{1A2BA971-93C3-444B-92F7-9223E6422FC3}"/>
              </a:ext>
            </a:extLst>
          </p:cNvPr>
          <p:cNvSpPr>
            <a:spLocks noGrp="1"/>
          </p:cNvSpPr>
          <p:nvPr>
            <p:ph type="dt" sz="half" idx="10"/>
          </p:nvPr>
        </p:nvSpPr>
        <p:spPr/>
        <p:txBody>
          <a:bodyPr/>
          <a:lstStyle/>
          <a:p>
            <a:pPr>
              <a:defRPr/>
            </a:pPr>
            <a:endParaRPr lang="ru-RU"/>
          </a:p>
        </p:txBody>
      </p:sp>
      <p:sp>
        <p:nvSpPr>
          <p:cNvPr id="6" name="Нижний колонтитул 5">
            <a:extLst>
              <a:ext uri="{FF2B5EF4-FFF2-40B4-BE49-F238E27FC236}">
                <a16:creationId xmlns:a16="http://schemas.microsoft.com/office/drawing/2014/main" id="{9AC131DE-C5ED-43B5-948E-CB772CD42DEC}"/>
              </a:ext>
            </a:extLst>
          </p:cNvPr>
          <p:cNvSpPr>
            <a:spLocks noGrp="1"/>
          </p:cNvSpPr>
          <p:nvPr>
            <p:ph type="ftr" sz="quarter" idx="11"/>
          </p:nvPr>
        </p:nvSpPr>
        <p:spPr/>
        <p:txBody>
          <a:bodyPr/>
          <a:lstStyle/>
          <a:p>
            <a:pPr>
              <a:defRPr/>
            </a:pPr>
            <a:endParaRPr lang="ru-RU"/>
          </a:p>
        </p:txBody>
      </p:sp>
      <p:sp>
        <p:nvSpPr>
          <p:cNvPr id="7" name="Номер слайда 6">
            <a:extLst>
              <a:ext uri="{FF2B5EF4-FFF2-40B4-BE49-F238E27FC236}">
                <a16:creationId xmlns:a16="http://schemas.microsoft.com/office/drawing/2014/main" id="{94AB4711-96E0-4718-BBEA-1B33283467BC}"/>
              </a:ext>
            </a:extLst>
          </p:cNvPr>
          <p:cNvSpPr>
            <a:spLocks noGrp="1"/>
          </p:cNvSpPr>
          <p:nvPr>
            <p:ph type="sldNum" sz="quarter" idx="12"/>
          </p:nvPr>
        </p:nvSpPr>
        <p:spPr/>
        <p:txBody>
          <a:bodyPr/>
          <a:lstStyle/>
          <a:p>
            <a:pPr>
              <a:defRPr/>
            </a:pPr>
            <a:fld id="{4290A58E-FDC0-4730-BD11-9B4CC74C34F2}" type="slidenum">
              <a:rPr lang="ru-RU" altLang="ru-RU" smtClean="0"/>
              <a:pPr>
                <a:defRPr/>
              </a:pPr>
              <a:t>‹#›</a:t>
            </a:fld>
            <a:endParaRPr lang="ru-RU" altLang="ru-RU"/>
          </a:p>
        </p:txBody>
      </p:sp>
    </p:spTree>
    <p:extLst>
      <p:ext uri="{BB962C8B-B14F-4D97-AF65-F5344CB8AC3E}">
        <p14:creationId xmlns:p14="http://schemas.microsoft.com/office/powerpoint/2010/main" val="575824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A0018FA-F985-4ED5-B824-245E84AB344F}"/>
              </a:ext>
            </a:extLst>
          </p:cNvPr>
          <p:cNvSpPr>
            <a:spLocks noGrp="1"/>
          </p:cNvSpPr>
          <p:nvPr>
            <p:ph type="title"/>
          </p:nvPr>
        </p:nvSpPr>
        <p:spPr/>
        <p:txBody>
          <a:bodyPr/>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A929AB19-1601-45B6-A097-64B9AC7E8ABA}"/>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7501726E-A893-4D1F-879D-4D50C7E04344}"/>
              </a:ext>
            </a:extLst>
          </p:cNvPr>
          <p:cNvSpPr>
            <a:spLocks noGrp="1"/>
          </p:cNvSpPr>
          <p:nvPr>
            <p:ph type="dt" sz="half" idx="10"/>
          </p:nvPr>
        </p:nvSpPr>
        <p:spPr/>
        <p:txBody>
          <a:bodyPr/>
          <a:lstStyle/>
          <a:p>
            <a:pPr>
              <a:defRPr/>
            </a:pPr>
            <a:endParaRPr lang="ru-RU"/>
          </a:p>
        </p:txBody>
      </p:sp>
      <p:sp>
        <p:nvSpPr>
          <p:cNvPr id="5" name="Нижний колонтитул 4">
            <a:extLst>
              <a:ext uri="{FF2B5EF4-FFF2-40B4-BE49-F238E27FC236}">
                <a16:creationId xmlns:a16="http://schemas.microsoft.com/office/drawing/2014/main" id="{211D2FEC-B04C-4075-A64A-5117A008E797}"/>
              </a:ext>
            </a:extLst>
          </p:cNvPr>
          <p:cNvSpPr>
            <a:spLocks noGrp="1"/>
          </p:cNvSpPr>
          <p:nvPr>
            <p:ph type="ftr" sz="quarter" idx="11"/>
          </p:nvPr>
        </p:nvSpPr>
        <p:spPr/>
        <p:txBody>
          <a:bodyPr/>
          <a:lstStyle/>
          <a:p>
            <a:pPr>
              <a:defRPr/>
            </a:pPr>
            <a:endParaRPr lang="ru-RU"/>
          </a:p>
        </p:txBody>
      </p:sp>
      <p:sp>
        <p:nvSpPr>
          <p:cNvPr id="6" name="Номер слайда 5">
            <a:extLst>
              <a:ext uri="{FF2B5EF4-FFF2-40B4-BE49-F238E27FC236}">
                <a16:creationId xmlns:a16="http://schemas.microsoft.com/office/drawing/2014/main" id="{C52E458C-CF6D-40C7-A316-49CB9A73EFAD}"/>
              </a:ext>
            </a:extLst>
          </p:cNvPr>
          <p:cNvSpPr>
            <a:spLocks noGrp="1"/>
          </p:cNvSpPr>
          <p:nvPr>
            <p:ph type="sldNum" sz="quarter" idx="12"/>
          </p:nvPr>
        </p:nvSpPr>
        <p:spPr/>
        <p:txBody>
          <a:bodyPr/>
          <a:lstStyle/>
          <a:p>
            <a:pPr>
              <a:defRPr/>
            </a:pPr>
            <a:fld id="{26454589-E0CC-41D4-B3CA-0B4B166BCF4F}" type="slidenum">
              <a:rPr lang="ru-RU" altLang="ru-RU" smtClean="0"/>
              <a:pPr>
                <a:defRPr/>
              </a:pPr>
              <a:t>‹#›</a:t>
            </a:fld>
            <a:endParaRPr lang="ru-RU" altLang="ru-RU"/>
          </a:p>
        </p:txBody>
      </p:sp>
    </p:spTree>
    <p:extLst>
      <p:ext uri="{BB962C8B-B14F-4D97-AF65-F5344CB8AC3E}">
        <p14:creationId xmlns:p14="http://schemas.microsoft.com/office/powerpoint/2010/main" val="728353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869343BE-625F-4B55-BAFD-38D1DD737EA6}"/>
              </a:ext>
            </a:extLst>
          </p:cNvPr>
          <p:cNvSpPr>
            <a:spLocks noGrp="1"/>
          </p:cNvSpPr>
          <p:nvPr>
            <p:ph type="title" orient="vert"/>
          </p:nvPr>
        </p:nvSpPr>
        <p:spPr>
          <a:xfrm>
            <a:off x="6543675" y="365125"/>
            <a:ext cx="1971675" cy="5811838"/>
          </a:xfrm>
        </p:spPr>
        <p:txBody>
          <a:bodyPr vert="eaVert"/>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09E9B659-BF3B-4A54-BF72-3F6AFFCC34F5}"/>
              </a:ext>
            </a:extLst>
          </p:cNvPr>
          <p:cNvSpPr>
            <a:spLocks noGrp="1"/>
          </p:cNvSpPr>
          <p:nvPr>
            <p:ph type="body" orient="vert" idx="1"/>
          </p:nvPr>
        </p:nvSpPr>
        <p:spPr>
          <a:xfrm>
            <a:off x="628650" y="365125"/>
            <a:ext cx="5800725"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F25ED5AB-3039-4A6B-A161-35D302A7BDAF}"/>
              </a:ext>
            </a:extLst>
          </p:cNvPr>
          <p:cNvSpPr>
            <a:spLocks noGrp="1"/>
          </p:cNvSpPr>
          <p:nvPr>
            <p:ph type="dt" sz="half" idx="10"/>
          </p:nvPr>
        </p:nvSpPr>
        <p:spPr/>
        <p:txBody>
          <a:bodyPr/>
          <a:lstStyle/>
          <a:p>
            <a:pPr>
              <a:defRPr/>
            </a:pPr>
            <a:endParaRPr lang="ru-RU"/>
          </a:p>
        </p:txBody>
      </p:sp>
      <p:sp>
        <p:nvSpPr>
          <p:cNvPr id="5" name="Нижний колонтитул 4">
            <a:extLst>
              <a:ext uri="{FF2B5EF4-FFF2-40B4-BE49-F238E27FC236}">
                <a16:creationId xmlns:a16="http://schemas.microsoft.com/office/drawing/2014/main" id="{F99E4830-1F86-4347-8900-4E9C8021D69B}"/>
              </a:ext>
            </a:extLst>
          </p:cNvPr>
          <p:cNvSpPr>
            <a:spLocks noGrp="1"/>
          </p:cNvSpPr>
          <p:nvPr>
            <p:ph type="ftr" sz="quarter" idx="11"/>
          </p:nvPr>
        </p:nvSpPr>
        <p:spPr/>
        <p:txBody>
          <a:bodyPr/>
          <a:lstStyle/>
          <a:p>
            <a:pPr>
              <a:defRPr/>
            </a:pPr>
            <a:endParaRPr lang="ru-RU"/>
          </a:p>
        </p:txBody>
      </p:sp>
      <p:sp>
        <p:nvSpPr>
          <p:cNvPr id="6" name="Номер слайда 5">
            <a:extLst>
              <a:ext uri="{FF2B5EF4-FFF2-40B4-BE49-F238E27FC236}">
                <a16:creationId xmlns:a16="http://schemas.microsoft.com/office/drawing/2014/main" id="{73B534C4-E586-456F-99C9-1C4C1F97D319}"/>
              </a:ext>
            </a:extLst>
          </p:cNvPr>
          <p:cNvSpPr>
            <a:spLocks noGrp="1"/>
          </p:cNvSpPr>
          <p:nvPr>
            <p:ph type="sldNum" sz="quarter" idx="12"/>
          </p:nvPr>
        </p:nvSpPr>
        <p:spPr/>
        <p:txBody>
          <a:bodyPr/>
          <a:lstStyle/>
          <a:p>
            <a:pPr>
              <a:defRPr/>
            </a:pPr>
            <a:fld id="{8DCDDCC3-5E6C-4C33-AA27-26BBAD1E3398}" type="slidenum">
              <a:rPr lang="ru-RU" altLang="ru-RU" smtClean="0"/>
              <a:pPr>
                <a:defRPr/>
              </a:pPr>
              <a:t>‹#›</a:t>
            </a:fld>
            <a:endParaRPr lang="ru-RU" altLang="ru-RU"/>
          </a:p>
        </p:txBody>
      </p:sp>
    </p:spTree>
    <p:extLst>
      <p:ext uri="{BB962C8B-B14F-4D97-AF65-F5344CB8AC3E}">
        <p14:creationId xmlns:p14="http://schemas.microsoft.com/office/powerpoint/2010/main" val="2953645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AFA8C97-DF09-45D8-A66A-DE4062DBE146}"/>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Текст 2">
            <a:extLst>
              <a:ext uri="{FF2B5EF4-FFF2-40B4-BE49-F238E27FC236}">
                <a16:creationId xmlns:a16="http://schemas.microsoft.com/office/drawing/2014/main" id="{C0FE3FD9-535D-43BE-B578-DC6CBE66A814}"/>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F83986C4-6E30-4181-A3CD-A5DA771446DF}"/>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ru-RU"/>
          </a:p>
        </p:txBody>
      </p:sp>
      <p:sp>
        <p:nvSpPr>
          <p:cNvPr id="5" name="Нижний колонтитул 4">
            <a:extLst>
              <a:ext uri="{FF2B5EF4-FFF2-40B4-BE49-F238E27FC236}">
                <a16:creationId xmlns:a16="http://schemas.microsoft.com/office/drawing/2014/main" id="{459943FB-5154-4824-B01A-5E886DF05C84}"/>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ru-RU"/>
          </a:p>
        </p:txBody>
      </p:sp>
      <p:sp>
        <p:nvSpPr>
          <p:cNvPr id="6" name="Номер слайда 5">
            <a:extLst>
              <a:ext uri="{FF2B5EF4-FFF2-40B4-BE49-F238E27FC236}">
                <a16:creationId xmlns:a16="http://schemas.microsoft.com/office/drawing/2014/main" id="{EA0E631F-81EA-4034-A722-6BFCF1EB981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DED12CA4-347E-4AC8-8438-0479366D3D41}" type="slidenum">
              <a:rPr lang="ru-RU" altLang="ru-RU" smtClean="0"/>
              <a:pPr>
                <a:defRPr/>
              </a:pPr>
              <a:t>‹#›</a:t>
            </a:fld>
            <a:endParaRPr lang="ru-RU" altLang="ru-RU"/>
          </a:p>
        </p:txBody>
      </p:sp>
    </p:spTree>
    <p:extLst>
      <p:ext uri="{BB962C8B-B14F-4D97-AF65-F5344CB8AC3E}">
        <p14:creationId xmlns:p14="http://schemas.microsoft.com/office/powerpoint/2010/main" val="917023953"/>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 id="2147483891" r:id="rId6"/>
    <p:sldLayoutId id="2147483892" r:id="rId7"/>
    <p:sldLayoutId id="2147483893" r:id="rId8"/>
    <p:sldLayoutId id="2147483894" r:id="rId9"/>
    <p:sldLayoutId id="2147483895" r:id="rId10"/>
    <p:sldLayoutId id="2147483896"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g"/><Relationship Id="rId4" Type="http://schemas.openxmlformats.org/officeDocument/2006/relationships/image" Target="../media/image2.png"/><Relationship Id="rId9" Type="http://schemas.openxmlformats.org/officeDocument/2006/relationships/image" Target="../media/image7.jpg"/></Relationships>
</file>

<file path=ppt/slides/_rels/slide2.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0.jpeg"/><Relationship Id="rId7"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jpg"/><Relationship Id="rId4" Type="http://schemas.openxmlformats.org/officeDocument/2006/relationships/image" Target="../media/image1.png"/><Relationship Id="rId9" Type="http://schemas.openxmlformats.org/officeDocument/2006/relationships/image" Target="../media/image7.jpg"/></Relationships>
</file>

<file path=ppt/slides/_rels/slide3.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0.jpeg"/><Relationship Id="rId7"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11.png"/><Relationship Id="rId5" Type="http://schemas.openxmlformats.org/officeDocument/2006/relationships/image" Target="../media/image3.png"/><Relationship Id="rId10" Type="http://schemas.openxmlformats.org/officeDocument/2006/relationships/image" Target="../media/image8.jpg"/><Relationship Id="rId4" Type="http://schemas.openxmlformats.org/officeDocument/2006/relationships/image" Target="../media/image1.png"/><Relationship Id="rId9"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0.jpeg"/><Relationship Id="rId7" Type="http://schemas.openxmlformats.org/officeDocument/2006/relationships/image" Target="../media/image5.png"/><Relationship Id="rId12"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12.png"/><Relationship Id="rId5" Type="http://schemas.openxmlformats.org/officeDocument/2006/relationships/image" Target="../media/image3.png"/><Relationship Id="rId10" Type="http://schemas.openxmlformats.org/officeDocument/2006/relationships/image" Target="../media/image8.jpg"/><Relationship Id="rId4" Type="http://schemas.openxmlformats.org/officeDocument/2006/relationships/image" Target="../media/image1.png"/><Relationship Id="rId9" Type="http://schemas.openxmlformats.org/officeDocument/2006/relationships/image" Target="../media/image7.jpg"/></Relationships>
</file>

<file path=ppt/slides/_rels/slide5.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0.jpeg"/><Relationship Id="rId7"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14.png"/><Relationship Id="rId5" Type="http://schemas.openxmlformats.org/officeDocument/2006/relationships/image" Target="../media/image3.png"/><Relationship Id="rId10" Type="http://schemas.openxmlformats.org/officeDocument/2006/relationships/image" Target="../media/image8.jpg"/><Relationship Id="rId4" Type="http://schemas.openxmlformats.org/officeDocument/2006/relationships/image" Target="../media/image1.png"/><Relationship Id="rId9" Type="http://schemas.openxmlformats.org/officeDocument/2006/relationships/image" Target="../media/image7.jpg"/></Relationships>
</file>

<file path=ppt/slides/_rels/slide6.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0.jpeg"/><Relationship Id="rId7"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15.png"/><Relationship Id="rId5" Type="http://schemas.openxmlformats.org/officeDocument/2006/relationships/image" Target="../media/image3.png"/><Relationship Id="rId10" Type="http://schemas.openxmlformats.org/officeDocument/2006/relationships/image" Target="../media/image8.jpg"/><Relationship Id="rId4" Type="http://schemas.openxmlformats.org/officeDocument/2006/relationships/image" Target="../media/image1.png"/><Relationship Id="rId9" Type="http://schemas.openxmlformats.org/officeDocument/2006/relationships/image" Target="../media/image7.jpg"/></Relationships>
</file>

<file path=ppt/slides/_rels/slide7.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0.jpeg"/><Relationship Id="rId7" Type="http://schemas.openxmlformats.org/officeDocument/2006/relationships/image" Target="../media/image5.png"/><Relationship Id="rId12" Type="http://schemas.openxmlformats.org/officeDocument/2006/relationships/image" Target="../media/image17.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16.png"/><Relationship Id="rId5" Type="http://schemas.openxmlformats.org/officeDocument/2006/relationships/image" Target="../media/image3.png"/><Relationship Id="rId10" Type="http://schemas.openxmlformats.org/officeDocument/2006/relationships/image" Target="../media/image8.jpg"/><Relationship Id="rId4" Type="http://schemas.openxmlformats.org/officeDocument/2006/relationships/image" Target="../media/image1.png"/><Relationship Id="rId9" Type="http://schemas.openxmlformats.org/officeDocument/2006/relationships/image" Target="../media/image7.jpg"/></Relationships>
</file>

<file path=ppt/slides/_rels/slide8.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0.jpeg"/><Relationship Id="rId7" Type="http://schemas.openxmlformats.org/officeDocument/2006/relationships/image" Target="../media/image5.png"/><Relationship Id="rId12"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18.png"/><Relationship Id="rId5" Type="http://schemas.openxmlformats.org/officeDocument/2006/relationships/image" Target="../media/image3.png"/><Relationship Id="rId10" Type="http://schemas.openxmlformats.org/officeDocument/2006/relationships/image" Target="../media/image8.jpg"/><Relationship Id="rId4" Type="http://schemas.openxmlformats.org/officeDocument/2006/relationships/image" Target="../media/image1.png"/><Relationship Id="rId9" Type="http://schemas.openxmlformats.org/officeDocument/2006/relationships/image" Target="../media/image7.jpg"/></Relationships>
</file>

<file path=ppt/slides/_rels/slide9.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0.jpeg"/><Relationship Id="rId7"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20.png"/><Relationship Id="rId5" Type="http://schemas.openxmlformats.org/officeDocument/2006/relationships/image" Target="../media/image3.png"/><Relationship Id="rId10" Type="http://schemas.openxmlformats.org/officeDocument/2006/relationships/image" Target="../media/image8.jpg"/><Relationship Id="rId4" Type="http://schemas.openxmlformats.org/officeDocument/2006/relationships/image" Target="../media/image1.png"/><Relationship Id="rId9" Type="http://schemas.openxmlformats.org/officeDocument/2006/relationships/image" Target="../media/image7.jpg"/></Relationships>
</file>

<file path=ppt/slides/_rels/slide10.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0.jpeg"/><Relationship Id="rId7"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hyperlink" Target="https://github.com/NoyanTM/aitu-sist-2026_research-paper" TargetMode="External"/><Relationship Id="rId5" Type="http://schemas.openxmlformats.org/officeDocument/2006/relationships/image" Target="../media/image3.png"/><Relationship Id="rId10" Type="http://schemas.openxmlformats.org/officeDocument/2006/relationships/image" Target="../media/image8.jpg"/><Relationship Id="rId4" Type="http://schemas.openxmlformats.org/officeDocument/2006/relationships/image" Target="../media/image1.png"/><Relationship Id="rId9"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12" name="Прямоугольник 11">
            <a:extLst>
              <a:ext uri="{FF2B5EF4-FFF2-40B4-BE49-F238E27FC236}">
                <a16:creationId xmlns:a16="http://schemas.microsoft.com/office/drawing/2014/main" id="{2B9ADBC5-6725-4CC7-9DDE-9586826FA795}"/>
              </a:ext>
            </a:extLst>
          </p:cNvPr>
          <p:cNvSpPr/>
          <p:nvPr/>
        </p:nvSpPr>
        <p:spPr>
          <a:xfrm>
            <a:off x="0" y="6146441"/>
            <a:ext cx="9149715" cy="725570"/>
          </a:xfrm>
          <a:prstGeom prst="rect">
            <a:avLst/>
          </a:prstGeom>
          <a:gradFill flip="none" rotWithShape="1">
            <a:gsLst>
              <a:gs pos="35000">
                <a:srgbClr val="36ACD8"/>
              </a:gs>
              <a:gs pos="78000">
                <a:srgbClr val="2E6CA4"/>
              </a:gs>
              <a:gs pos="100000">
                <a:srgbClr val="2E76A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p>
        </p:txBody>
      </p:sp>
      <p:sp>
        <p:nvSpPr>
          <p:cNvPr id="4099" name="Прямоугольник 3">
            <a:extLst>
              <a:ext uri="{FF2B5EF4-FFF2-40B4-BE49-F238E27FC236}">
                <a16:creationId xmlns:a16="http://schemas.microsoft.com/office/drawing/2014/main" id="{4753E180-0492-4F39-99DC-D0DB65AD9852}"/>
              </a:ext>
            </a:extLst>
          </p:cNvPr>
          <p:cNvSpPr>
            <a:spLocks noChangeArrowheads="1"/>
          </p:cNvSpPr>
          <p:nvPr/>
        </p:nvSpPr>
        <p:spPr bwMode="auto">
          <a:xfrm>
            <a:off x="19304" y="193488"/>
            <a:ext cx="9149715" cy="11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ru-RU" sz="1700" b="1" dirty="0">
                <a:solidFill>
                  <a:srgbClr val="002060"/>
                </a:solidFill>
                <a:latin typeface="Times New Roman" panose="02020603050405020304" pitchFamily="18" charset="0"/>
                <a:cs typeface="Times New Roman" panose="02020603050405020304" pitchFamily="18" charset="0"/>
              </a:rPr>
              <a:t>202</a:t>
            </a:r>
            <a:r>
              <a:rPr lang="kk-KZ" altLang="ru-RU" sz="1700" b="1" dirty="0">
                <a:solidFill>
                  <a:srgbClr val="002060"/>
                </a:solidFill>
                <a:latin typeface="Times New Roman" panose="02020603050405020304" pitchFamily="18" charset="0"/>
                <a:cs typeface="Times New Roman" panose="02020603050405020304" pitchFamily="18" charset="0"/>
              </a:rPr>
              <a:t>6</a:t>
            </a:r>
            <a:r>
              <a:rPr lang="en-US" altLang="ru-RU" sz="1700" b="1" dirty="0">
                <a:solidFill>
                  <a:srgbClr val="002060"/>
                </a:solidFill>
                <a:latin typeface="Times New Roman" panose="02020603050405020304" pitchFamily="18" charset="0"/>
                <a:cs typeface="Times New Roman" panose="02020603050405020304" pitchFamily="18" charset="0"/>
              </a:rPr>
              <a:t> IEEE </a:t>
            </a:r>
            <a:r>
              <a:rPr lang="kk-KZ" altLang="ru-RU" sz="1700" b="1" dirty="0">
                <a:solidFill>
                  <a:srgbClr val="002060"/>
                </a:solidFill>
                <a:latin typeface="Times New Roman" panose="02020603050405020304" pitchFamily="18" charset="0"/>
                <a:cs typeface="Times New Roman" panose="02020603050405020304" pitchFamily="18" charset="0"/>
              </a:rPr>
              <a:t>6</a:t>
            </a:r>
            <a:r>
              <a:rPr lang="en-US" altLang="ru-RU" sz="1700" b="1" dirty="0" err="1">
                <a:solidFill>
                  <a:srgbClr val="002060"/>
                </a:solidFill>
                <a:latin typeface="Times New Roman" panose="02020603050405020304" pitchFamily="18" charset="0"/>
                <a:cs typeface="Times New Roman" panose="02020603050405020304" pitchFamily="18" charset="0"/>
              </a:rPr>
              <a:t>th</a:t>
            </a:r>
            <a:r>
              <a:rPr lang="en-US" altLang="ru-RU" sz="1700" b="1" dirty="0">
                <a:solidFill>
                  <a:srgbClr val="002060"/>
                </a:solidFill>
                <a:latin typeface="Times New Roman" panose="02020603050405020304" pitchFamily="18" charset="0"/>
                <a:cs typeface="Times New Roman" panose="02020603050405020304" pitchFamily="18" charset="0"/>
              </a:rPr>
              <a:t> International Conference</a:t>
            </a:r>
            <a:r>
              <a:rPr lang="ru-RU" altLang="ru-RU" sz="1700" b="1" dirty="0">
                <a:solidFill>
                  <a:srgbClr val="002060"/>
                </a:solidFill>
                <a:latin typeface="Times New Roman" panose="02020603050405020304" pitchFamily="18" charset="0"/>
                <a:cs typeface="Times New Roman" panose="02020603050405020304" pitchFamily="18" charset="0"/>
              </a:rPr>
              <a:t> </a:t>
            </a:r>
            <a:r>
              <a:rPr lang="en-US" altLang="ru-RU" sz="1700" b="1" dirty="0">
                <a:solidFill>
                  <a:srgbClr val="002060"/>
                </a:solidFill>
                <a:latin typeface="Times New Roman" panose="02020603050405020304" pitchFamily="18" charset="0"/>
                <a:cs typeface="Times New Roman" panose="02020603050405020304" pitchFamily="18" charset="0"/>
              </a:rPr>
              <a:t>on Smart Information Systems and Technologies</a:t>
            </a:r>
            <a:r>
              <a:rPr lang="ru-RU" altLang="ru-RU" sz="1700" b="1" dirty="0">
                <a:solidFill>
                  <a:srgbClr val="002060"/>
                </a:solidFill>
                <a:latin typeface="Times New Roman" panose="02020603050405020304" pitchFamily="18" charset="0"/>
                <a:cs typeface="Times New Roman" panose="02020603050405020304" pitchFamily="18" charset="0"/>
              </a:rPr>
              <a:t> </a:t>
            </a:r>
            <a:r>
              <a:rPr lang="en-US" altLang="ru-RU" sz="1700" b="1" dirty="0">
                <a:solidFill>
                  <a:srgbClr val="002060"/>
                </a:solidFill>
                <a:latin typeface="Times New Roman" panose="02020603050405020304" pitchFamily="18" charset="0"/>
                <a:cs typeface="Times New Roman" panose="02020603050405020304" pitchFamily="18" charset="0"/>
              </a:rPr>
              <a:t>(SIST)</a:t>
            </a:r>
            <a:endParaRPr lang="kk-KZ" altLang="ru-RU" sz="1700" b="1" dirty="0">
              <a:solidFill>
                <a:srgbClr val="002060"/>
              </a:solidFill>
              <a:latin typeface="Times New Roman" panose="02020603050405020304" pitchFamily="18" charset="0"/>
              <a:cs typeface="Times New Roman" panose="02020603050405020304" pitchFamily="18" charset="0"/>
            </a:endParaRPr>
          </a:p>
          <a:p>
            <a:pPr algn="ctr">
              <a:spcBef>
                <a:spcPct val="0"/>
              </a:spcBef>
              <a:buClrTx/>
              <a:buSzTx/>
              <a:buNone/>
            </a:pPr>
            <a:r>
              <a:rPr lang="en-US" altLang="ru-RU" sz="1700" b="1" dirty="0">
                <a:solidFill>
                  <a:srgbClr val="002060"/>
                </a:solidFill>
                <a:latin typeface="Times New Roman" panose="02020603050405020304" pitchFamily="18" charset="0"/>
                <a:cs typeface="Times New Roman" panose="02020603050405020304" pitchFamily="18" charset="0"/>
              </a:rPr>
              <a:t>May </a:t>
            </a:r>
            <a:r>
              <a:rPr lang="ru-RU" altLang="ru-RU" sz="1700" b="1" dirty="0">
                <a:solidFill>
                  <a:srgbClr val="002060"/>
                </a:solidFill>
                <a:latin typeface="Times New Roman" panose="02020603050405020304" pitchFamily="18" charset="0"/>
                <a:cs typeface="Times New Roman" panose="02020603050405020304" pitchFamily="18" charset="0"/>
              </a:rPr>
              <a:t>13-15</a:t>
            </a:r>
            <a:r>
              <a:rPr lang="en-US" altLang="ru-RU" sz="1700" b="1" dirty="0">
                <a:solidFill>
                  <a:srgbClr val="002060"/>
                </a:solidFill>
                <a:latin typeface="Times New Roman" panose="02020603050405020304" pitchFamily="18" charset="0"/>
                <a:cs typeface="Times New Roman" panose="02020603050405020304" pitchFamily="18" charset="0"/>
              </a:rPr>
              <a:t>, 202</a:t>
            </a:r>
            <a:r>
              <a:rPr lang="ru-RU" altLang="ru-RU" sz="1700" b="1" dirty="0">
                <a:solidFill>
                  <a:srgbClr val="002060"/>
                </a:solidFill>
                <a:latin typeface="Times New Roman" panose="02020603050405020304" pitchFamily="18" charset="0"/>
                <a:cs typeface="Times New Roman" panose="02020603050405020304" pitchFamily="18" charset="0"/>
              </a:rPr>
              <a:t>6</a:t>
            </a:r>
          </a:p>
          <a:p>
            <a:pPr algn="ctr">
              <a:spcBef>
                <a:spcPct val="0"/>
              </a:spcBef>
              <a:buClrTx/>
              <a:buSzTx/>
              <a:buNone/>
            </a:pPr>
            <a:r>
              <a:rPr lang="en-US" sz="1700" b="1" dirty="0">
                <a:solidFill>
                  <a:srgbClr val="002060"/>
                </a:solidFill>
                <a:latin typeface="Times New Roman" panose="02020603050405020304" pitchFamily="18" charset="0"/>
                <a:cs typeface="Times New Roman" panose="02020603050405020304" pitchFamily="18" charset="0"/>
              </a:rPr>
              <a:t>Astana, Kazakhstan</a:t>
            </a:r>
            <a:endParaRPr kumimoji="0" lang="en-US" sz="1700" b="1" i="0" u="none" strike="noStrike" kern="1200" cap="none" spc="0" normalizeH="0" baseline="0" noProof="0" dirty="0">
              <a:ln>
                <a:noFill/>
              </a:ln>
              <a:solidFill>
                <a:srgbClr val="002060"/>
              </a:solidFill>
              <a:effectLst/>
              <a:uLnTx/>
              <a:uFillTx/>
              <a:latin typeface="Times New Roman" panose="02020603050405020304" pitchFamily="18" charset="0"/>
              <a:cs typeface="Times New Roman" panose="02020603050405020304" pitchFamily="18" charset="0"/>
            </a:endParaRPr>
          </a:p>
          <a:p>
            <a:pPr algn="ctr" eaLnBrk="1" hangingPunct="1">
              <a:spcBef>
                <a:spcPct val="0"/>
              </a:spcBef>
              <a:buClrTx/>
              <a:buSzTx/>
              <a:buFontTx/>
              <a:buNone/>
            </a:pPr>
            <a:endParaRPr lang="en-US" altLang="ru-RU" sz="1800" b="1" dirty="0">
              <a:solidFill>
                <a:srgbClr val="002060"/>
              </a:solidFill>
              <a:latin typeface="Times New Roman" panose="02020603050405020304" pitchFamily="18" charset="0"/>
              <a:cs typeface="Times New Roman" panose="02020603050405020304" pitchFamily="18" charset="0"/>
            </a:endParaRPr>
          </a:p>
        </p:txBody>
      </p:sp>
      <p:pic>
        <p:nvPicPr>
          <p:cNvPr id="8" name="Picture 7" descr="A blue text on a black background&#10;&#10;Description automatically generated">
            <a:extLst>
              <a:ext uri="{FF2B5EF4-FFF2-40B4-BE49-F238E27FC236}">
                <a16:creationId xmlns:a16="http://schemas.microsoft.com/office/drawing/2014/main" id="{74C53C07-C077-E21E-749A-232470E4DBC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501007" y="6342108"/>
            <a:ext cx="1076787" cy="387872"/>
          </a:xfrm>
          <a:prstGeom prst="rect">
            <a:avLst/>
          </a:prstGeom>
        </p:spPr>
      </p:pic>
      <p:sp>
        <p:nvSpPr>
          <p:cNvPr id="28" name="TextBox 27">
            <a:extLst>
              <a:ext uri="{FF2B5EF4-FFF2-40B4-BE49-F238E27FC236}">
                <a16:creationId xmlns:a16="http://schemas.microsoft.com/office/drawing/2014/main" id="{2ACD55B5-2266-F2A4-9C40-5AF88B2A02DC}"/>
              </a:ext>
            </a:extLst>
          </p:cNvPr>
          <p:cNvSpPr txBox="1"/>
          <p:nvPr/>
        </p:nvSpPr>
        <p:spPr>
          <a:xfrm>
            <a:off x="1359542" y="4159352"/>
            <a:ext cx="4572000" cy="369332"/>
          </a:xfrm>
          <a:prstGeom prst="rect">
            <a:avLst/>
          </a:prstGeom>
          <a:noFill/>
        </p:spPr>
        <p:txBody>
          <a:bodyPr wrap="square">
            <a:spAutoFit/>
          </a:bodyPr>
          <a:lstStyle/>
          <a:p>
            <a:pPr algn="l"/>
            <a:endParaRPr lang="ru-KZ" b="0" i="0" u="none" strike="noStrike" dirty="0">
              <a:solidFill>
                <a:srgbClr val="000000"/>
              </a:solidFill>
              <a:effectLst/>
            </a:endParaRPr>
          </a:p>
        </p:txBody>
      </p:sp>
      <p:pic>
        <p:nvPicPr>
          <p:cNvPr id="13" name="Рисунок 12" descr="Изображение выглядит как Шрифт, Графика, символ, логотип&#10;&#10;Автоматически созданное описание">
            <a:extLst>
              <a:ext uri="{FF2B5EF4-FFF2-40B4-BE49-F238E27FC236}">
                <a16:creationId xmlns:a16="http://schemas.microsoft.com/office/drawing/2014/main" id="{B5E8075D-F16B-99FE-CF4B-949DA2641A1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596336" y="499689"/>
            <a:ext cx="1772898" cy="539861"/>
          </a:xfrm>
          <a:prstGeom prst="rect">
            <a:avLst/>
          </a:prstGeom>
        </p:spPr>
      </p:pic>
      <p:pic>
        <p:nvPicPr>
          <p:cNvPr id="37" name="Рисунок 36" descr="Изображение выглядит как Шрифт, Графика, текст, круг&#10;&#10;Автоматически созданное описание">
            <a:extLst>
              <a:ext uri="{FF2B5EF4-FFF2-40B4-BE49-F238E27FC236}">
                <a16:creationId xmlns:a16="http://schemas.microsoft.com/office/drawing/2014/main" id="{C36BFE13-2265-7688-8BF9-2ECF9726572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966361" y="6343664"/>
            <a:ext cx="784691" cy="402808"/>
          </a:xfrm>
          <a:prstGeom prst="rect">
            <a:avLst/>
          </a:prstGeom>
        </p:spPr>
      </p:pic>
      <p:sp>
        <p:nvSpPr>
          <p:cNvPr id="51" name="Subtitle 2">
            <a:extLst>
              <a:ext uri="{FF2B5EF4-FFF2-40B4-BE49-F238E27FC236}">
                <a16:creationId xmlns:a16="http://schemas.microsoft.com/office/drawing/2014/main" id="{E006B1C6-B9D3-0C3F-83BB-26117F98BFA5}"/>
              </a:ext>
            </a:extLst>
          </p:cNvPr>
          <p:cNvSpPr>
            <a:spLocks noGrp="1"/>
          </p:cNvSpPr>
          <p:nvPr>
            <p:ph type="subTitle" idx="1"/>
          </p:nvPr>
        </p:nvSpPr>
        <p:spPr>
          <a:xfrm>
            <a:off x="317658" y="3649146"/>
            <a:ext cx="7022970" cy="1292022"/>
          </a:xfrm>
        </p:spPr>
        <p:txBody>
          <a:bodyPr>
            <a:noAutofit/>
          </a:bodyPr>
          <a:lstStyle/>
          <a:p>
            <a:pPr algn="l"/>
            <a:br>
              <a:rPr lang="en-US" sz="1600" b="1" dirty="0">
                <a:solidFill>
                  <a:srgbClr val="0070C0"/>
                </a:solidFill>
                <a:cs typeface="Times New Roman" panose="02020603050405020304" pitchFamily="18" charset="0"/>
              </a:rPr>
            </a:br>
            <a:r>
              <a:rPr lang="en-US" sz="1600" b="1" dirty="0">
                <a:solidFill>
                  <a:srgbClr val="0070C0"/>
                </a:solidFill>
                <a:cs typeface="Times New Roman" panose="02020603050405020304" pitchFamily="18" charset="0"/>
              </a:rPr>
              <a:t>Authors’ names: </a:t>
            </a:r>
            <a:r>
              <a:rPr lang="en-US" sz="1600" b="1" dirty="0">
                <a:solidFill>
                  <a:srgbClr val="0070C0"/>
                </a:solidFill>
              </a:rPr>
              <a:t>Noyan Tendikov, Rostyslav Lisnevskyi, Leila Rzayeva</a:t>
            </a:r>
            <a:endParaRPr lang="en-US" sz="1600" b="1" dirty="0">
              <a:solidFill>
                <a:srgbClr val="0070C0"/>
              </a:solidFill>
              <a:cs typeface="Times New Roman" panose="02020603050405020304" pitchFamily="18" charset="0"/>
            </a:endParaRPr>
          </a:p>
          <a:p>
            <a:pPr algn="l"/>
            <a:br>
              <a:rPr lang="en-US" sz="1600" b="1" dirty="0">
                <a:solidFill>
                  <a:srgbClr val="0070C0"/>
                </a:solidFill>
                <a:cs typeface="Times New Roman" panose="02020603050405020304" pitchFamily="18" charset="0"/>
              </a:rPr>
            </a:br>
            <a:r>
              <a:rPr lang="en-US" sz="1600" b="1" dirty="0">
                <a:solidFill>
                  <a:srgbClr val="0070C0"/>
                </a:solidFill>
                <a:cs typeface="Times New Roman" panose="02020603050405020304" pitchFamily="18" charset="0"/>
              </a:rPr>
              <a:t>University/company: </a:t>
            </a:r>
            <a:r>
              <a:rPr lang="en-US" sz="1600" b="1" dirty="0">
                <a:solidFill>
                  <a:srgbClr val="0070C0"/>
                </a:solidFill>
              </a:rPr>
              <a:t>Astana IT University</a:t>
            </a:r>
            <a:br>
              <a:rPr lang="en-US" sz="1600" b="1" dirty="0">
                <a:solidFill>
                  <a:srgbClr val="0070C0"/>
                </a:solidFill>
                <a:cs typeface="Times New Roman" panose="02020603050405020304" pitchFamily="18" charset="0"/>
              </a:rPr>
            </a:br>
            <a:r>
              <a:rPr lang="en-US" sz="1600" b="1" dirty="0">
                <a:solidFill>
                  <a:srgbClr val="0070C0"/>
                </a:solidFill>
                <a:cs typeface="Times New Roman" panose="02020603050405020304" pitchFamily="18" charset="0"/>
              </a:rPr>
              <a:t>City, Country: </a:t>
            </a:r>
            <a:r>
              <a:rPr lang="en-US" sz="1600" b="1" dirty="0">
                <a:solidFill>
                  <a:srgbClr val="0070C0"/>
                </a:solidFill>
              </a:rPr>
              <a:t>Astana, Kazakhstan</a:t>
            </a:r>
            <a:br>
              <a:rPr lang="en-US" sz="1600" b="1" dirty="0">
                <a:solidFill>
                  <a:srgbClr val="0070C0"/>
                </a:solidFill>
                <a:cs typeface="Times New Roman" panose="02020603050405020304" pitchFamily="18" charset="0"/>
              </a:rPr>
            </a:br>
            <a:endParaRPr lang="en-US" sz="1600" b="1" dirty="0">
              <a:solidFill>
                <a:srgbClr val="0070C0"/>
              </a:solidFill>
              <a:cs typeface="Times New Roman" panose="02020603050405020304" pitchFamily="18" charset="0"/>
            </a:endParaRPr>
          </a:p>
        </p:txBody>
      </p:sp>
      <p:sp>
        <p:nvSpPr>
          <p:cNvPr id="52" name="Subtitle 2">
            <a:extLst>
              <a:ext uri="{FF2B5EF4-FFF2-40B4-BE49-F238E27FC236}">
                <a16:creationId xmlns:a16="http://schemas.microsoft.com/office/drawing/2014/main" id="{8621FB69-3F4C-5230-3051-F0418D226DC2}"/>
              </a:ext>
            </a:extLst>
          </p:cNvPr>
          <p:cNvSpPr txBox="1">
            <a:spLocks/>
          </p:cNvSpPr>
          <p:nvPr/>
        </p:nvSpPr>
        <p:spPr>
          <a:xfrm>
            <a:off x="317658" y="1207558"/>
            <a:ext cx="7022970" cy="297013"/>
          </a:xfrm>
          <a:prstGeom prst="rect">
            <a:avLst/>
          </a:prstGeom>
        </p:spPr>
        <p:txBody>
          <a:bodyPr vert="horz" lIns="0" tIns="45720" rIns="91440" bIns="45720" rtlCol="0">
            <a:noAutofit/>
          </a:bodyPr>
          <a:lstStyle>
            <a:lvl1pPr marL="0" indent="0" algn="l" defTabSz="685800" rtl="0" eaLnBrk="1" latinLnBrk="0" hangingPunct="1">
              <a:lnSpc>
                <a:spcPct val="90000"/>
              </a:lnSpc>
              <a:spcBef>
                <a:spcPts val="750"/>
              </a:spcBef>
              <a:buClr>
                <a:srgbClr val="002855"/>
              </a:buClr>
              <a:buFont typeface="LucidaGrande" charset="0"/>
              <a:buNone/>
              <a:defRPr sz="2100" b="1" i="1" kern="1200">
                <a:solidFill>
                  <a:schemeClr val="tx1">
                    <a:lumMod val="50000"/>
                    <a:lumOff val="50000"/>
                  </a:schemeClr>
                </a:solidFill>
                <a:latin typeface="Calibri" charset="0"/>
                <a:ea typeface="Calibri" charset="0"/>
                <a:cs typeface="Calibri" charset="0"/>
              </a:defRPr>
            </a:lvl1pPr>
            <a:lvl2pPr marL="342900" indent="0" algn="ctr" defTabSz="685800" rtl="0" eaLnBrk="1" latinLnBrk="0" hangingPunct="1">
              <a:lnSpc>
                <a:spcPct val="90000"/>
              </a:lnSpc>
              <a:spcBef>
                <a:spcPts val="375"/>
              </a:spcBef>
              <a:buClr>
                <a:srgbClr val="002855"/>
              </a:buClr>
              <a:buFont typeface="LucidaGrande"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Clr>
                <a:srgbClr val="002855"/>
              </a:buClr>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Clr>
                <a:srgbClr val="002855"/>
              </a:buClr>
              <a:buFont typeface="Wingdings" charset="2"/>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Clr>
                <a:srgbClr val="002855"/>
              </a:buClr>
              <a:buFont typeface="Courier New"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sz="1400" dirty="0"/>
              <a:t>Paper ID-83</a:t>
            </a:r>
          </a:p>
          <a:p>
            <a:r>
              <a:rPr lang="en-US" sz="1400" dirty="0"/>
              <a:t>Section: </a:t>
            </a:r>
            <a:r>
              <a:rPr lang="en-US" sz="1400" dirty="0">
                <a:solidFill>
                  <a:schemeClr val="dk1">
                    <a:lumMod val="50000"/>
                    <a:lumOff val="50000"/>
                  </a:schemeClr>
                </a:solidFill>
                <a:latin typeface="Calibri"/>
                <a:ea typeface="Calibri"/>
              </a:rPr>
              <a:t>"Computer science, IEEE Computer Society (CS), IEEE Transactions on Computers. Performance, fault tolerance, reliability, security, and testability"</a:t>
            </a:r>
            <a:endParaRPr lang="en-US" sz="1400" dirty="0"/>
          </a:p>
        </p:txBody>
      </p:sp>
      <p:sp>
        <p:nvSpPr>
          <p:cNvPr id="53" name="Title 1">
            <a:extLst>
              <a:ext uri="{FF2B5EF4-FFF2-40B4-BE49-F238E27FC236}">
                <a16:creationId xmlns:a16="http://schemas.microsoft.com/office/drawing/2014/main" id="{14D33B1E-7288-A688-8ED8-03BB6C0CBDB8}"/>
              </a:ext>
            </a:extLst>
          </p:cNvPr>
          <p:cNvSpPr>
            <a:spLocks noGrp="1"/>
          </p:cNvSpPr>
          <p:nvPr>
            <p:ph type="ctrTitle"/>
          </p:nvPr>
        </p:nvSpPr>
        <p:spPr>
          <a:xfrm>
            <a:off x="317658" y="2708920"/>
            <a:ext cx="8553009" cy="753579"/>
          </a:xfrm>
        </p:spPr>
        <p:txBody>
          <a:bodyPr>
            <a:noAutofit/>
          </a:bodyPr>
          <a:lstStyle/>
          <a:p>
            <a:r>
              <a:rPr lang="en-US" sz="2800" dirty="0">
                <a:solidFill>
                  <a:schemeClr val="dk1"/>
                </a:solidFill>
              </a:rPr>
              <a:t>Customizable methodology for structured analysis</a:t>
            </a:r>
            <a:br>
              <a:rPr lang="en-US" sz="2800" dirty="0"/>
            </a:br>
            <a:r>
              <a:rPr lang="en-US" sz="2800" dirty="0">
                <a:solidFill>
                  <a:schemeClr val="dk1"/>
                </a:solidFill>
              </a:rPr>
              <a:t>of software within isolated computational environments to secure critical IT infrastructures</a:t>
            </a:r>
            <a:endParaRPr lang="en-US" sz="2800" dirty="0"/>
          </a:p>
        </p:txBody>
      </p:sp>
      <p:pic>
        <p:nvPicPr>
          <p:cNvPr id="2" name="Рисунок 1">
            <a:extLst>
              <a:ext uri="{FF2B5EF4-FFF2-40B4-BE49-F238E27FC236}">
                <a16:creationId xmlns:a16="http://schemas.microsoft.com/office/drawing/2014/main" id="{C9E7DD15-B07D-802F-D7BD-C9E40CB30C34}"/>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05434" y="6273572"/>
            <a:ext cx="1174783" cy="471307"/>
          </a:xfrm>
          <a:prstGeom prst="rect">
            <a:avLst/>
          </a:prstGeom>
          <a:noFill/>
          <a:ln>
            <a:noFill/>
          </a:ln>
        </p:spPr>
      </p:pic>
      <p:pic>
        <p:nvPicPr>
          <p:cNvPr id="10" name="Рисунок 9">
            <a:extLst>
              <a:ext uri="{FF2B5EF4-FFF2-40B4-BE49-F238E27FC236}">
                <a16:creationId xmlns:a16="http://schemas.microsoft.com/office/drawing/2014/main" id="{20FAF1D9-D41E-E75E-FC82-76738471AD2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00364" y="6266957"/>
            <a:ext cx="412394" cy="538174"/>
          </a:xfrm>
          <a:prstGeom prst="rect">
            <a:avLst/>
          </a:prstGeom>
        </p:spPr>
      </p:pic>
      <p:pic>
        <p:nvPicPr>
          <p:cNvPr id="19" name="Рисунок 18">
            <a:extLst>
              <a:ext uri="{FF2B5EF4-FFF2-40B4-BE49-F238E27FC236}">
                <a16:creationId xmlns:a16="http://schemas.microsoft.com/office/drawing/2014/main" id="{5DC6EB97-D5FF-F4A4-9638-6D95B8CB5E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952323" y="6271724"/>
            <a:ext cx="1060923" cy="509978"/>
          </a:xfrm>
          <a:prstGeom prst="rect">
            <a:avLst/>
          </a:prstGeom>
        </p:spPr>
      </p:pic>
      <p:pic>
        <p:nvPicPr>
          <p:cNvPr id="21" name="Рисунок 20">
            <a:extLst>
              <a:ext uri="{FF2B5EF4-FFF2-40B4-BE49-F238E27FC236}">
                <a16:creationId xmlns:a16="http://schemas.microsoft.com/office/drawing/2014/main" id="{A4841D1E-76E8-234A-10A1-110504A7852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5919" y="6285329"/>
            <a:ext cx="1007689" cy="471307"/>
          </a:xfrm>
          <a:prstGeom prst="rect">
            <a:avLst/>
          </a:prstGeom>
        </p:spPr>
      </p:pic>
      <p:pic>
        <p:nvPicPr>
          <p:cNvPr id="23" name="Рисунок 22">
            <a:extLst>
              <a:ext uri="{FF2B5EF4-FFF2-40B4-BE49-F238E27FC236}">
                <a16:creationId xmlns:a16="http://schemas.microsoft.com/office/drawing/2014/main" id="{AD964207-0D2E-D762-4B59-C54057FFD07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271199" y="6315453"/>
            <a:ext cx="493286" cy="441183"/>
          </a:xfrm>
          <a:prstGeom prst="rect">
            <a:avLst/>
          </a:prstGeom>
        </p:spPr>
      </p:pic>
    </p:spTree>
  </p:cSld>
  <p:clrMapOvr>
    <a:masterClrMapping/>
  </p:clrMapOvr>
  <p:transition advTm="30102"/>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71B5E1B0-B44D-468B-893A-70C7B0B86F9B}"/>
              </a:ext>
            </a:extLst>
          </p:cNvPr>
          <p:cNvSpPr/>
          <p:nvPr/>
        </p:nvSpPr>
        <p:spPr>
          <a:xfrm>
            <a:off x="-5715" y="-66"/>
            <a:ext cx="9149715" cy="725570"/>
          </a:xfrm>
          <a:prstGeom prst="rect">
            <a:avLst/>
          </a:prstGeom>
          <a:gradFill flip="none" rotWithShape="1">
            <a:gsLst>
              <a:gs pos="35000">
                <a:srgbClr val="36ACD8"/>
              </a:gs>
              <a:gs pos="78000">
                <a:srgbClr val="2E6CA4"/>
              </a:gs>
              <a:gs pos="100000">
                <a:srgbClr val="2E76A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Прямоугольник 11">
            <a:extLst>
              <a:ext uri="{FF2B5EF4-FFF2-40B4-BE49-F238E27FC236}">
                <a16:creationId xmlns:a16="http://schemas.microsoft.com/office/drawing/2014/main" id="{D6DB8900-8153-41C1-B658-18D58875FA52}"/>
              </a:ext>
            </a:extLst>
          </p:cNvPr>
          <p:cNvSpPr/>
          <p:nvPr/>
        </p:nvSpPr>
        <p:spPr>
          <a:xfrm>
            <a:off x="8604448" y="-2906"/>
            <a:ext cx="206809" cy="79665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13" name="Пятиугольник 84">
            <a:extLst>
              <a:ext uri="{FF2B5EF4-FFF2-40B4-BE49-F238E27FC236}">
                <a16:creationId xmlns:a16="http://schemas.microsoft.com/office/drawing/2014/main" id="{FC513BF4-750E-4626-9C56-8C01720CF7A5}"/>
              </a:ext>
            </a:extLst>
          </p:cNvPr>
          <p:cNvSpPr/>
          <p:nvPr/>
        </p:nvSpPr>
        <p:spPr>
          <a:xfrm rot="5400000">
            <a:off x="16369" y="101765"/>
            <a:ext cx="901896" cy="698366"/>
          </a:xfrm>
          <a:prstGeom prst="homePlate">
            <a:avLst>
              <a:gd name="adj" fmla="val 22381"/>
            </a:avLst>
          </a:prstGeom>
          <a:solidFill>
            <a:srgbClr val="1CBA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4" name="Рисунок 13">
            <a:extLst>
              <a:ext uri="{FF2B5EF4-FFF2-40B4-BE49-F238E27FC236}">
                <a16:creationId xmlns:a16="http://schemas.microsoft.com/office/drawing/2014/main" id="{AE9B2A26-DE45-4A67-B9E7-0E712F0FB064}"/>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70541" y="276220"/>
            <a:ext cx="593734" cy="305513"/>
          </a:xfrm>
          <a:prstGeom prst="rect">
            <a:avLst/>
          </a:prstGeom>
        </p:spPr>
      </p:pic>
      <p:sp>
        <p:nvSpPr>
          <p:cNvPr id="7" name="Заголовок 6">
            <a:extLst>
              <a:ext uri="{FF2B5EF4-FFF2-40B4-BE49-F238E27FC236}">
                <a16:creationId xmlns:a16="http://schemas.microsoft.com/office/drawing/2014/main" id="{A2ECE477-41AB-4888-9268-E6DA630FF833}"/>
              </a:ext>
            </a:extLst>
          </p:cNvPr>
          <p:cNvSpPr>
            <a:spLocks noGrp="1"/>
          </p:cNvSpPr>
          <p:nvPr>
            <p:ph type="title"/>
          </p:nvPr>
        </p:nvSpPr>
        <p:spPr>
          <a:xfrm>
            <a:off x="240673" y="59887"/>
            <a:ext cx="3311525" cy="369332"/>
          </a:xfrm>
        </p:spPr>
        <p:txBody>
          <a:bodyPr>
            <a:spAutoFit/>
          </a:bodyPr>
          <a:lstStyle/>
          <a:p>
            <a:pPr algn="ctr" eaLnBrk="1" hangingPunct="1">
              <a:spcAft>
                <a:spcPts val="0"/>
              </a:spcAft>
              <a:defRPr/>
            </a:pP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20</a:t>
            </a:r>
            <a:r>
              <a:rPr lang="uk-UA"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2</a:t>
            </a:r>
            <a:r>
              <a:rPr lang="ru-RU" sz="2000" b="1"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6</a:t>
            </a: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 </a:t>
            </a:r>
            <a:r>
              <a:rPr lang="en-US" sz="2000" b="1"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IEEE </a:t>
            </a: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SIST</a:t>
            </a:r>
            <a:endParaRPr lang="uk-UA" sz="20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endParaRPr>
          </a:p>
        </p:txBody>
      </p:sp>
      <p:pic>
        <p:nvPicPr>
          <p:cNvPr id="28" name="Рисунок 27">
            <a:extLst>
              <a:ext uri="{FF2B5EF4-FFF2-40B4-BE49-F238E27FC236}">
                <a16:creationId xmlns:a16="http://schemas.microsoft.com/office/drawing/2014/main" id="{AC6181D3-99BA-4EAF-8418-DA9C1F7559F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839663" y="-2906"/>
            <a:ext cx="1304337" cy="796656"/>
          </a:xfrm>
          <a:prstGeom prst="rect">
            <a:avLst/>
          </a:prstGeom>
        </p:spPr>
      </p:pic>
      <p:sp>
        <p:nvSpPr>
          <p:cNvPr id="27" name="Прямоугольник 26">
            <a:extLst>
              <a:ext uri="{FF2B5EF4-FFF2-40B4-BE49-F238E27FC236}">
                <a16:creationId xmlns:a16="http://schemas.microsoft.com/office/drawing/2014/main" id="{D5B3A0F1-52B4-4FDB-BF42-B0EAD4BBE96A}"/>
              </a:ext>
            </a:extLst>
          </p:cNvPr>
          <p:cNvSpPr/>
          <p:nvPr/>
        </p:nvSpPr>
        <p:spPr>
          <a:xfrm>
            <a:off x="0" y="6146441"/>
            <a:ext cx="9149715" cy="725570"/>
          </a:xfrm>
          <a:prstGeom prst="rect">
            <a:avLst/>
          </a:prstGeom>
          <a:gradFill flip="none" rotWithShape="1">
            <a:gsLst>
              <a:gs pos="35000">
                <a:srgbClr val="36ACD8"/>
              </a:gs>
              <a:gs pos="78000">
                <a:srgbClr val="2E6CA4"/>
              </a:gs>
              <a:gs pos="100000">
                <a:srgbClr val="2E76A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p>
        </p:txBody>
      </p:sp>
      <p:pic>
        <p:nvPicPr>
          <p:cNvPr id="2" name="Picture 7" descr="A blue text on a black background&#10;&#10;Description automatically generated">
            <a:extLst>
              <a:ext uri="{FF2B5EF4-FFF2-40B4-BE49-F238E27FC236}">
                <a16:creationId xmlns:a16="http://schemas.microsoft.com/office/drawing/2014/main" id="{6C4B4B20-1A61-B08C-B925-EF68C8F0DCE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296263" y="6342108"/>
            <a:ext cx="1076787" cy="387872"/>
          </a:xfrm>
          <a:prstGeom prst="rect">
            <a:avLst/>
          </a:prstGeom>
        </p:spPr>
      </p:pic>
      <p:pic>
        <p:nvPicPr>
          <p:cNvPr id="3" name="Рисунок 2" descr="Изображение выглядит как Шрифт, Графика, текст, круг&#10;&#10;Автоматически созданное описание">
            <a:extLst>
              <a:ext uri="{FF2B5EF4-FFF2-40B4-BE49-F238E27FC236}">
                <a16:creationId xmlns:a16="http://schemas.microsoft.com/office/drawing/2014/main" id="{832BE49C-E616-1F54-D15E-8770CCB8E93F}"/>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020678" y="6334640"/>
            <a:ext cx="784691" cy="402808"/>
          </a:xfrm>
          <a:prstGeom prst="rect">
            <a:avLst/>
          </a:prstGeom>
        </p:spPr>
      </p:pic>
      <p:pic>
        <p:nvPicPr>
          <p:cNvPr id="4" name="Рисунок 3">
            <a:extLst>
              <a:ext uri="{FF2B5EF4-FFF2-40B4-BE49-F238E27FC236}">
                <a16:creationId xmlns:a16="http://schemas.microsoft.com/office/drawing/2014/main" id="{CCE51B06-9A1B-2385-77CE-1C75B63E600C}"/>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24003" y="6273572"/>
            <a:ext cx="1174783" cy="471307"/>
          </a:xfrm>
          <a:prstGeom prst="rect">
            <a:avLst/>
          </a:prstGeom>
          <a:noFill/>
          <a:ln>
            <a:noFill/>
          </a:ln>
        </p:spPr>
      </p:pic>
      <p:pic>
        <p:nvPicPr>
          <p:cNvPr id="5" name="Рисунок 4">
            <a:extLst>
              <a:ext uri="{FF2B5EF4-FFF2-40B4-BE49-F238E27FC236}">
                <a16:creationId xmlns:a16="http://schemas.microsoft.com/office/drawing/2014/main" id="{86BD947F-3525-12FA-833A-6BC0BF4D665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44140" y="6259474"/>
            <a:ext cx="412394" cy="538174"/>
          </a:xfrm>
          <a:prstGeom prst="rect">
            <a:avLst/>
          </a:prstGeom>
        </p:spPr>
      </p:pic>
      <p:pic>
        <p:nvPicPr>
          <p:cNvPr id="6" name="Рисунок 5">
            <a:extLst>
              <a:ext uri="{FF2B5EF4-FFF2-40B4-BE49-F238E27FC236}">
                <a16:creationId xmlns:a16="http://schemas.microsoft.com/office/drawing/2014/main" id="{72BB36AA-8E83-DD27-745D-F43D84848D6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18404" y="6273572"/>
            <a:ext cx="1060923" cy="509978"/>
          </a:xfrm>
          <a:prstGeom prst="rect">
            <a:avLst/>
          </a:prstGeom>
        </p:spPr>
      </p:pic>
      <p:pic>
        <p:nvPicPr>
          <p:cNvPr id="8" name="Рисунок 7">
            <a:extLst>
              <a:ext uri="{FF2B5EF4-FFF2-40B4-BE49-F238E27FC236}">
                <a16:creationId xmlns:a16="http://schemas.microsoft.com/office/drawing/2014/main" id="{EBC6E65A-0865-809B-28C7-13DA0FFC159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5919" y="6285329"/>
            <a:ext cx="1007689" cy="471307"/>
          </a:xfrm>
          <a:prstGeom prst="rect">
            <a:avLst/>
          </a:prstGeom>
        </p:spPr>
      </p:pic>
      <p:pic>
        <p:nvPicPr>
          <p:cNvPr id="9" name="Рисунок 8">
            <a:extLst>
              <a:ext uri="{FF2B5EF4-FFF2-40B4-BE49-F238E27FC236}">
                <a16:creationId xmlns:a16="http://schemas.microsoft.com/office/drawing/2014/main" id="{183FDD5C-88A6-D337-FD06-FBACD97C1D3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324586" y="6315453"/>
            <a:ext cx="493286" cy="441183"/>
          </a:xfrm>
          <a:prstGeom prst="rect">
            <a:avLst/>
          </a:prstGeom>
        </p:spPr>
      </p:pic>
      <p:sp>
        <p:nvSpPr>
          <p:cNvPr id="10" name="PlaceHolder 2">
            <a:extLst>
              <a:ext uri="{FF2B5EF4-FFF2-40B4-BE49-F238E27FC236}">
                <a16:creationId xmlns:a16="http://schemas.microsoft.com/office/drawing/2014/main" id="{BA752F56-916B-C37C-EA76-DA85FA59F29B}"/>
              </a:ext>
            </a:extLst>
          </p:cNvPr>
          <p:cNvSpPr txBox="1">
            <a:spLocks/>
          </p:cNvSpPr>
          <p:nvPr/>
        </p:nvSpPr>
        <p:spPr>
          <a:xfrm>
            <a:off x="616680" y="1635624"/>
            <a:ext cx="7885080" cy="3089520"/>
          </a:xfrm>
          <a:prstGeom prst="rect">
            <a:avLst/>
          </a:prstGeom>
          <a:noFill/>
          <a:ln w="0">
            <a:noFill/>
          </a:ln>
        </p:spPr>
        <p:txBody>
          <a:bodyPr vert="horz" lIns="91440" tIns="45720" rIns="91440" bIns="45720" rtlCol="0" anchor="t">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171360">
              <a:spcBef>
                <a:spcPts val="751"/>
              </a:spcBef>
              <a:tabLst>
                <a:tab pos="0" algn="l"/>
              </a:tabLst>
            </a:pPr>
            <a:r>
              <a:rPr lang="en-US" sz="2100" dirty="0">
                <a:solidFill>
                  <a:schemeClr val="dk1"/>
                </a:solidFill>
                <a:latin typeface="Calibri"/>
              </a:rPr>
              <a:t>Introduction</a:t>
            </a:r>
            <a:endParaRPr lang="en-US" sz="2100" dirty="0">
              <a:solidFill>
                <a:srgbClr val="000000"/>
              </a:solidFill>
              <a:latin typeface="Arial"/>
            </a:endParaRPr>
          </a:p>
          <a:p>
            <a:pPr marL="864000" lvl="1" indent="-324000" algn="just" defTabSz="685800">
              <a:lnSpc>
                <a:spcPct val="90000"/>
              </a:lnSpc>
              <a:spcBef>
                <a:spcPts val="1134"/>
              </a:spcBef>
              <a:buClr>
                <a:srgbClr val="000000"/>
              </a:buClr>
              <a:buSzPct val="75000"/>
              <a:buFont typeface="Symbol" charset="2"/>
              <a:buChar char=""/>
              <a:tabLst>
                <a:tab pos="0" algn="l"/>
              </a:tabLst>
            </a:pPr>
            <a:r>
              <a:rPr lang="en-US" sz="1500" kern="0" dirty="0">
                <a:solidFill>
                  <a:schemeClr val="dk1"/>
                </a:solidFill>
                <a:latin typeface="Calibri"/>
              </a:rPr>
              <a:t>Modern cyber conflicts within an intensified arms race between multiple different actors, such as government agencies, armies, corporations, and private groups.</a:t>
            </a:r>
            <a:endParaRPr lang="en-US" sz="1500" kern="0" dirty="0">
              <a:solidFill>
                <a:srgbClr val="000000"/>
              </a:solidFill>
              <a:latin typeface="Arial"/>
            </a:endParaRPr>
          </a:p>
          <a:p>
            <a:pPr marL="864000" lvl="1" indent="-324000" algn="just" defTabSz="685800">
              <a:lnSpc>
                <a:spcPct val="90000"/>
              </a:lnSpc>
              <a:spcBef>
                <a:spcPts val="1134"/>
              </a:spcBef>
              <a:buClr>
                <a:srgbClr val="000000"/>
              </a:buClr>
              <a:buSzPct val="75000"/>
              <a:buFont typeface="Symbol" charset="2"/>
              <a:buChar char=""/>
              <a:tabLst>
                <a:tab pos="0" algn="l"/>
              </a:tabLst>
            </a:pPr>
            <a:r>
              <a:rPr lang="en-US" sz="1500" kern="0" dirty="0">
                <a:solidFill>
                  <a:schemeClr val="dk1"/>
                </a:solidFill>
                <a:latin typeface="Calibri"/>
              </a:rPr>
              <a:t>Under these circumstances, ensuring security is only a continuous process, not an absolute guarantee. It is import to </a:t>
            </a:r>
            <a:r>
              <a:rPr lang="en-US" sz="1500" kern="0" dirty="0" err="1">
                <a:solidFill>
                  <a:schemeClr val="dk1"/>
                </a:solidFill>
                <a:latin typeface="Calibri"/>
              </a:rPr>
              <a:t>to</a:t>
            </a:r>
            <a:r>
              <a:rPr lang="en-US" sz="1500" kern="0" dirty="0">
                <a:solidFill>
                  <a:schemeClr val="dk1"/>
                </a:solidFill>
                <a:latin typeface="Calibri"/>
              </a:rPr>
              <a:t> assess associated risks for critical IT infrastructure.</a:t>
            </a:r>
            <a:endParaRPr lang="en-US" sz="1500" kern="0" dirty="0">
              <a:solidFill>
                <a:srgbClr val="000000"/>
              </a:solidFill>
              <a:latin typeface="Arial"/>
            </a:endParaRPr>
          </a:p>
          <a:p>
            <a:pPr marL="864000" lvl="1" indent="-324000" algn="just" defTabSz="685800">
              <a:lnSpc>
                <a:spcPct val="90000"/>
              </a:lnSpc>
              <a:spcBef>
                <a:spcPts val="1134"/>
              </a:spcBef>
              <a:buClr>
                <a:srgbClr val="000000"/>
              </a:buClr>
              <a:buSzPct val="75000"/>
              <a:buFont typeface="Symbol" charset="2"/>
              <a:buChar char=""/>
              <a:tabLst>
                <a:tab pos="0" algn="l"/>
              </a:tabLst>
            </a:pPr>
            <a:r>
              <a:rPr lang="en-US" sz="1500" kern="0" dirty="0">
                <a:solidFill>
                  <a:schemeClr val="dk1"/>
                </a:solidFill>
                <a:latin typeface="Calibri"/>
              </a:rPr>
              <a:t>Research goal and objectives – to construct theoretical basis of security measures for the IT infrastructure, emphasizing the process of collecting and accounting of its internal resources or components for reliability and early insider threat prevention.</a:t>
            </a:r>
            <a:endParaRPr lang="en-US" sz="1500" kern="0" dirty="0">
              <a:solidFill>
                <a:srgbClr val="000000"/>
              </a:solidFill>
              <a:latin typeface="Arial"/>
            </a:endParaRPr>
          </a:p>
          <a:p>
            <a:pPr marL="864000" lvl="1" indent="-324000" algn="just" defTabSz="685800">
              <a:lnSpc>
                <a:spcPct val="90000"/>
              </a:lnSpc>
              <a:spcBef>
                <a:spcPts val="1134"/>
              </a:spcBef>
              <a:buClr>
                <a:srgbClr val="000000"/>
              </a:buClr>
              <a:buSzPct val="75000"/>
              <a:buFont typeface="Symbol" charset="2"/>
              <a:buChar char=""/>
              <a:tabLst>
                <a:tab pos="0" algn="l"/>
              </a:tabLst>
            </a:pPr>
            <a:r>
              <a:rPr lang="en-US" sz="1500" kern="0" dirty="0">
                <a:solidFill>
                  <a:schemeClr val="dk1"/>
                </a:solidFill>
                <a:latin typeface="Calibri"/>
              </a:rPr>
              <a:t>Practical results in a simulated environment demonstrate the dynamics of compromised package propagation among various actors. Our findings suggest that adopting restrictive quality gates and isolated analysis environments is a necessary step to shift toward proactive prevention, effectively controlling the spread of malicious software and catching complex threats before they reach production state.</a:t>
            </a:r>
            <a:endParaRPr lang="en-US" sz="1500" kern="0" dirty="0">
              <a:solidFill>
                <a:srgbClr val="000000"/>
              </a:solidFill>
              <a:latin typeface="Arial"/>
            </a:endParaRPr>
          </a:p>
          <a:p>
            <a:pPr algn="just">
              <a:spcBef>
                <a:spcPts val="1417"/>
              </a:spcBef>
              <a:tabLst>
                <a:tab pos="0" algn="l"/>
              </a:tabLst>
            </a:pPr>
            <a:endParaRPr lang="en-US" sz="1500" dirty="0">
              <a:solidFill>
                <a:srgbClr val="000000"/>
              </a:solidFill>
              <a:latin typeface="Arial"/>
            </a:endParaRPr>
          </a:p>
          <a:p>
            <a:pPr algn="just">
              <a:spcBef>
                <a:spcPts val="1417"/>
              </a:spcBef>
              <a:tabLst>
                <a:tab pos="0" algn="l"/>
              </a:tabLst>
            </a:pPr>
            <a:endParaRPr lang="en-US" sz="3200" dirty="0">
              <a:solidFill>
                <a:srgbClr val="000000"/>
              </a:solidFill>
              <a:latin typeface="Arial"/>
            </a:endParaRPr>
          </a:p>
        </p:txBody>
      </p:sp>
    </p:spTree>
  </p:cSld>
  <p:clrMapOvr>
    <a:masterClrMapping/>
  </p:clrMapOvr>
  <p:transition spd="slow" advTm="70039"/>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78DCD-4B0F-5AF0-75B9-A01EF7CEB7ED}"/>
            </a:ext>
          </a:extLst>
        </p:cNvPr>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49DD5EE7-8DB3-069F-E2B8-93C559A59C21}"/>
              </a:ext>
            </a:extLst>
          </p:cNvPr>
          <p:cNvSpPr/>
          <p:nvPr/>
        </p:nvSpPr>
        <p:spPr>
          <a:xfrm>
            <a:off x="-5715" y="-66"/>
            <a:ext cx="9149715" cy="725570"/>
          </a:xfrm>
          <a:prstGeom prst="rect">
            <a:avLst/>
          </a:prstGeom>
          <a:gradFill flip="none" rotWithShape="1">
            <a:gsLst>
              <a:gs pos="35000">
                <a:srgbClr val="36ACD8"/>
              </a:gs>
              <a:gs pos="78000">
                <a:srgbClr val="2E6CA4"/>
              </a:gs>
              <a:gs pos="100000">
                <a:srgbClr val="2E76A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Прямоугольник 11">
            <a:extLst>
              <a:ext uri="{FF2B5EF4-FFF2-40B4-BE49-F238E27FC236}">
                <a16:creationId xmlns:a16="http://schemas.microsoft.com/office/drawing/2014/main" id="{E0FB246A-79E3-89B5-EFE9-9D99E8D9B6C7}"/>
              </a:ext>
            </a:extLst>
          </p:cNvPr>
          <p:cNvSpPr/>
          <p:nvPr/>
        </p:nvSpPr>
        <p:spPr>
          <a:xfrm>
            <a:off x="8604448" y="-2906"/>
            <a:ext cx="206809" cy="79665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13" name="Пятиугольник 84">
            <a:extLst>
              <a:ext uri="{FF2B5EF4-FFF2-40B4-BE49-F238E27FC236}">
                <a16:creationId xmlns:a16="http://schemas.microsoft.com/office/drawing/2014/main" id="{6A1E05B3-829A-7757-77D1-5C851C5FC4D3}"/>
              </a:ext>
            </a:extLst>
          </p:cNvPr>
          <p:cNvSpPr/>
          <p:nvPr/>
        </p:nvSpPr>
        <p:spPr>
          <a:xfrm rot="5400000">
            <a:off x="16369" y="101765"/>
            <a:ext cx="901896" cy="698366"/>
          </a:xfrm>
          <a:prstGeom prst="homePlate">
            <a:avLst>
              <a:gd name="adj" fmla="val 22381"/>
            </a:avLst>
          </a:prstGeom>
          <a:solidFill>
            <a:srgbClr val="1CBA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4" name="Рисунок 13">
            <a:extLst>
              <a:ext uri="{FF2B5EF4-FFF2-40B4-BE49-F238E27FC236}">
                <a16:creationId xmlns:a16="http://schemas.microsoft.com/office/drawing/2014/main" id="{D3E60E06-1941-4668-6EBC-BFA90D06502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70541" y="276220"/>
            <a:ext cx="593734" cy="305513"/>
          </a:xfrm>
          <a:prstGeom prst="rect">
            <a:avLst/>
          </a:prstGeom>
        </p:spPr>
      </p:pic>
      <p:sp>
        <p:nvSpPr>
          <p:cNvPr id="7" name="Заголовок 6">
            <a:extLst>
              <a:ext uri="{FF2B5EF4-FFF2-40B4-BE49-F238E27FC236}">
                <a16:creationId xmlns:a16="http://schemas.microsoft.com/office/drawing/2014/main" id="{F32C34CF-B309-1A60-7C90-B917818CF5C3}"/>
              </a:ext>
            </a:extLst>
          </p:cNvPr>
          <p:cNvSpPr>
            <a:spLocks noGrp="1"/>
          </p:cNvSpPr>
          <p:nvPr>
            <p:ph type="title"/>
          </p:nvPr>
        </p:nvSpPr>
        <p:spPr>
          <a:xfrm>
            <a:off x="240673" y="59887"/>
            <a:ext cx="3311525" cy="369332"/>
          </a:xfrm>
        </p:spPr>
        <p:txBody>
          <a:bodyPr>
            <a:spAutoFit/>
          </a:bodyPr>
          <a:lstStyle/>
          <a:p>
            <a:pPr algn="ctr" eaLnBrk="1" hangingPunct="1">
              <a:spcAft>
                <a:spcPts val="0"/>
              </a:spcAft>
              <a:defRPr/>
            </a:pP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20</a:t>
            </a:r>
            <a:r>
              <a:rPr lang="uk-UA"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2</a:t>
            </a:r>
            <a:r>
              <a:rPr lang="ru-RU" sz="2000" b="1"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6</a:t>
            </a: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 </a:t>
            </a:r>
            <a:r>
              <a:rPr lang="en-US" sz="2000" b="1"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IEEE </a:t>
            </a: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SIST</a:t>
            </a:r>
            <a:endParaRPr lang="uk-UA" sz="20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endParaRPr>
          </a:p>
        </p:txBody>
      </p:sp>
      <p:pic>
        <p:nvPicPr>
          <p:cNvPr id="28" name="Рисунок 27">
            <a:extLst>
              <a:ext uri="{FF2B5EF4-FFF2-40B4-BE49-F238E27FC236}">
                <a16:creationId xmlns:a16="http://schemas.microsoft.com/office/drawing/2014/main" id="{D9C4437E-710A-27C9-0E7F-6875BE55AC8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839663" y="-2906"/>
            <a:ext cx="1304337" cy="796656"/>
          </a:xfrm>
          <a:prstGeom prst="rect">
            <a:avLst/>
          </a:prstGeom>
        </p:spPr>
      </p:pic>
      <p:sp>
        <p:nvSpPr>
          <p:cNvPr id="27" name="Прямоугольник 26">
            <a:extLst>
              <a:ext uri="{FF2B5EF4-FFF2-40B4-BE49-F238E27FC236}">
                <a16:creationId xmlns:a16="http://schemas.microsoft.com/office/drawing/2014/main" id="{B56BA5AA-51BC-639D-B8E8-645DD374DBFB}"/>
              </a:ext>
            </a:extLst>
          </p:cNvPr>
          <p:cNvSpPr/>
          <p:nvPr/>
        </p:nvSpPr>
        <p:spPr>
          <a:xfrm>
            <a:off x="0" y="6146441"/>
            <a:ext cx="9149715" cy="725570"/>
          </a:xfrm>
          <a:prstGeom prst="rect">
            <a:avLst/>
          </a:prstGeom>
          <a:gradFill flip="none" rotWithShape="1">
            <a:gsLst>
              <a:gs pos="35000">
                <a:srgbClr val="36ACD8"/>
              </a:gs>
              <a:gs pos="78000">
                <a:srgbClr val="2E6CA4"/>
              </a:gs>
              <a:gs pos="100000">
                <a:srgbClr val="2E76A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p>
        </p:txBody>
      </p:sp>
      <p:pic>
        <p:nvPicPr>
          <p:cNvPr id="2" name="Picture 7" descr="A blue text on a black background&#10;&#10;Description automatically generated">
            <a:extLst>
              <a:ext uri="{FF2B5EF4-FFF2-40B4-BE49-F238E27FC236}">
                <a16:creationId xmlns:a16="http://schemas.microsoft.com/office/drawing/2014/main" id="{BED72DF6-FD09-D646-065D-685CD60434D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296263" y="6342108"/>
            <a:ext cx="1076787" cy="387872"/>
          </a:xfrm>
          <a:prstGeom prst="rect">
            <a:avLst/>
          </a:prstGeom>
        </p:spPr>
      </p:pic>
      <p:pic>
        <p:nvPicPr>
          <p:cNvPr id="3" name="Рисунок 2" descr="Изображение выглядит как Шрифт, Графика, текст, круг&#10;&#10;Автоматически созданное описание">
            <a:extLst>
              <a:ext uri="{FF2B5EF4-FFF2-40B4-BE49-F238E27FC236}">
                <a16:creationId xmlns:a16="http://schemas.microsoft.com/office/drawing/2014/main" id="{2F04105C-7AEB-2564-6384-AA83F93E5296}"/>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020678" y="6334640"/>
            <a:ext cx="784691" cy="402808"/>
          </a:xfrm>
          <a:prstGeom prst="rect">
            <a:avLst/>
          </a:prstGeom>
        </p:spPr>
      </p:pic>
      <p:pic>
        <p:nvPicPr>
          <p:cNvPr id="4" name="Рисунок 3">
            <a:extLst>
              <a:ext uri="{FF2B5EF4-FFF2-40B4-BE49-F238E27FC236}">
                <a16:creationId xmlns:a16="http://schemas.microsoft.com/office/drawing/2014/main" id="{34C06E48-D232-FF06-4C15-75054363D7E0}"/>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24003" y="6273572"/>
            <a:ext cx="1174783" cy="471307"/>
          </a:xfrm>
          <a:prstGeom prst="rect">
            <a:avLst/>
          </a:prstGeom>
          <a:noFill/>
          <a:ln>
            <a:noFill/>
          </a:ln>
        </p:spPr>
      </p:pic>
      <p:pic>
        <p:nvPicPr>
          <p:cNvPr id="5" name="Рисунок 4">
            <a:extLst>
              <a:ext uri="{FF2B5EF4-FFF2-40B4-BE49-F238E27FC236}">
                <a16:creationId xmlns:a16="http://schemas.microsoft.com/office/drawing/2014/main" id="{7B18AD07-C587-3C6C-6EF7-FBFC367675A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44140" y="6259474"/>
            <a:ext cx="412394" cy="538174"/>
          </a:xfrm>
          <a:prstGeom prst="rect">
            <a:avLst/>
          </a:prstGeom>
        </p:spPr>
      </p:pic>
      <p:pic>
        <p:nvPicPr>
          <p:cNvPr id="6" name="Рисунок 5">
            <a:extLst>
              <a:ext uri="{FF2B5EF4-FFF2-40B4-BE49-F238E27FC236}">
                <a16:creationId xmlns:a16="http://schemas.microsoft.com/office/drawing/2014/main" id="{D1FE4E4E-5C9F-7090-C9FE-DA1225D7E1D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18404" y="6273572"/>
            <a:ext cx="1060923" cy="509978"/>
          </a:xfrm>
          <a:prstGeom prst="rect">
            <a:avLst/>
          </a:prstGeom>
        </p:spPr>
      </p:pic>
      <p:pic>
        <p:nvPicPr>
          <p:cNvPr id="8" name="Рисунок 7">
            <a:extLst>
              <a:ext uri="{FF2B5EF4-FFF2-40B4-BE49-F238E27FC236}">
                <a16:creationId xmlns:a16="http://schemas.microsoft.com/office/drawing/2014/main" id="{CACA2755-8BDF-93C5-00E7-82A32F05B98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5919" y="6285329"/>
            <a:ext cx="1007689" cy="471307"/>
          </a:xfrm>
          <a:prstGeom prst="rect">
            <a:avLst/>
          </a:prstGeom>
        </p:spPr>
      </p:pic>
      <p:pic>
        <p:nvPicPr>
          <p:cNvPr id="9" name="Рисунок 8">
            <a:extLst>
              <a:ext uri="{FF2B5EF4-FFF2-40B4-BE49-F238E27FC236}">
                <a16:creationId xmlns:a16="http://schemas.microsoft.com/office/drawing/2014/main" id="{E7E93318-5F50-949B-A547-036D854B088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324586" y="6315453"/>
            <a:ext cx="493286" cy="441183"/>
          </a:xfrm>
          <a:prstGeom prst="rect">
            <a:avLst/>
          </a:prstGeom>
        </p:spPr>
      </p:pic>
      <p:sp>
        <p:nvSpPr>
          <p:cNvPr id="15" name="PlaceHolder 2">
            <a:extLst>
              <a:ext uri="{FF2B5EF4-FFF2-40B4-BE49-F238E27FC236}">
                <a16:creationId xmlns:a16="http://schemas.microsoft.com/office/drawing/2014/main" id="{50863362-7D91-5FD5-A804-4D6D96BED251}"/>
              </a:ext>
            </a:extLst>
          </p:cNvPr>
          <p:cNvSpPr txBox="1">
            <a:spLocks/>
          </p:cNvSpPr>
          <p:nvPr/>
        </p:nvSpPr>
        <p:spPr>
          <a:xfrm>
            <a:off x="228600" y="1556792"/>
            <a:ext cx="4639680" cy="3749584"/>
          </a:xfrm>
          <a:prstGeom prst="rect">
            <a:avLst/>
          </a:prstGeom>
          <a:noFill/>
          <a:ln w="0">
            <a:noFill/>
          </a:ln>
        </p:spPr>
        <p:txBody>
          <a:bodyPr vert="horz" lIns="91440" tIns="45720" rIns="91440" bIns="45720" rtlCol="0" anchor="t">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171360" algn="just">
              <a:spcBef>
                <a:spcPts val="751"/>
              </a:spcBef>
              <a:tabLst>
                <a:tab pos="0" algn="l"/>
              </a:tabLst>
            </a:pPr>
            <a:r>
              <a:rPr lang="en-US" sz="2100" dirty="0">
                <a:solidFill>
                  <a:schemeClr val="dk1"/>
                </a:solidFill>
                <a:latin typeface="Calibri"/>
              </a:rPr>
              <a:t>Resource management and accounting</a:t>
            </a:r>
            <a:endParaRPr lang="en-US" sz="2100" dirty="0">
              <a:solidFill>
                <a:srgbClr val="000000"/>
              </a:solidFill>
              <a:latin typeface="Arial"/>
            </a:endParaRPr>
          </a:p>
          <a:p>
            <a:pPr marL="864000" algn="just">
              <a:spcBef>
                <a:spcPts val="1134"/>
              </a:spcBef>
              <a:tabLst>
                <a:tab pos="0" algn="l"/>
              </a:tabLst>
            </a:pPr>
            <a:r>
              <a:rPr lang="en-US" sz="1500" dirty="0">
                <a:solidFill>
                  <a:schemeClr val="dk1"/>
                </a:solidFill>
                <a:latin typeface="Calibri"/>
                <a:ea typeface="DejaVu Sans"/>
              </a:rPr>
              <a:t>OWASP identified 10 major risks for IT infrastructure in which 5 of them are directly related to IT resources accounting [1]. Usually, solution-specific logic represents about 10% of code while the remainder is third-party dependencies [2].</a:t>
            </a:r>
            <a:endParaRPr lang="en-US" sz="1500" dirty="0">
              <a:solidFill>
                <a:srgbClr val="000000"/>
              </a:solidFill>
              <a:latin typeface="Arial"/>
            </a:endParaRPr>
          </a:p>
          <a:p>
            <a:pPr marL="864000" lvl="1" indent="-324000" algn="just" defTabSz="685800">
              <a:lnSpc>
                <a:spcPct val="90000"/>
              </a:lnSpc>
              <a:spcBef>
                <a:spcPts val="1134"/>
              </a:spcBef>
              <a:buClr>
                <a:srgbClr val="000000"/>
              </a:buClr>
              <a:buSzPct val="75000"/>
              <a:buFont typeface="Symbol" charset="2"/>
              <a:buChar char=""/>
              <a:tabLst>
                <a:tab pos="0" algn="l"/>
              </a:tabLst>
            </a:pPr>
            <a:r>
              <a:rPr lang="en-US" sz="1500" kern="0" dirty="0">
                <a:solidFill>
                  <a:schemeClr val="dk1"/>
                </a:solidFill>
                <a:latin typeface="Calibri"/>
                <a:ea typeface="DejaVu Sans"/>
              </a:rPr>
              <a:t>Software composition analysis (SCA) acts as structured approach for collecting and accounting software components.</a:t>
            </a:r>
            <a:endParaRPr lang="en-US" sz="1500" kern="0" dirty="0">
              <a:solidFill>
                <a:srgbClr val="000000"/>
              </a:solidFill>
              <a:latin typeface="Arial"/>
            </a:endParaRPr>
          </a:p>
          <a:p>
            <a:pPr marL="864000" lvl="1" indent="-324000" algn="just" defTabSz="685800">
              <a:lnSpc>
                <a:spcPct val="90000"/>
              </a:lnSpc>
              <a:spcBef>
                <a:spcPts val="1134"/>
              </a:spcBef>
              <a:buClr>
                <a:srgbClr val="000000"/>
              </a:buClr>
              <a:buSzPct val="75000"/>
              <a:buFont typeface="Symbol" charset="2"/>
              <a:buChar char=""/>
              <a:tabLst>
                <a:tab pos="0" algn="l"/>
              </a:tabLst>
            </a:pPr>
            <a:r>
              <a:rPr lang="en-US" sz="1500" kern="0" dirty="0">
                <a:solidFill>
                  <a:schemeClr val="dk1"/>
                </a:solidFill>
                <a:latin typeface="Calibri"/>
                <a:ea typeface="DejaVu Sans"/>
              </a:rPr>
              <a:t>As shown in Figure 1, a script in the Python programming language is only an internal dependency on the surface, where everything else is third-party components.</a:t>
            </a:r>
            <a:endParaRPr lang="en-US" sz="1500" kern="0" dirty="0">
              <a:solidFill>
                <a:srgbClr val="000000"/>
              </a:solidFill>
              <a:latin typeface="Arial"/>
            </a:endParaRPr>
          </a:p>
        </p:txBody>
      </p:sp>
      <p:pic>
        <p:nvPicPr>
          <p:cNvPr id="16" name="Picture 15">
            <a:extLst>
              <a:ext uri="{FF2B5EF4-FFF2-40B4-BE49-F238E27FC236}">
                <a16:creationId xmlns:a16="http://schemas.microsoft.com/office/drawing/2014/main" id="{1D1D64A5-AFA4-C51E-5E79-61824FBDA256}"/>
              </a:ext>
            </a:extLst>
          </p:cNvPr>
          <p:cNvPicPr/>
          <p:nvPr/>
        </p:nvPicPr>
        <p:blipFill>
          <a:blip r:embed="rId11"/>
          <a:stretch/>
        </p:blipFill>
        <p:spPr>
          <a:xfrm>
            <a:off x="5029200" y="1988840"/>
            <a:ext cx="3755520" cy="2368800"/>
          </a:xfrm>
          <a:prstGeom prst="rect">
            <a:avLst/>
          </a:prstGeom>
          <a:noFill/>
          <a:ln w="0">
            <a:noFill/>
          </a:ln>
        </p:spPr>
      </p:pic>
      <p:sp>
        <p:nvSpPr>
          <p:cNvPr id="17" name="Rectangle 16">
            <a:extLst>
              <a:ext uri="{FF2B5EF4-FFF2-40B4-BE49-F238E27FC236}">
                <a16:creationId xmlns:a16="http://schemas.microsoft.com/office/drawing/2014/main" id="{0545FBB6-0F6B-D5BF-2BBF-F1E009018C44}"/>
              </a:ext>
            </a:extLst>
          </p:cNvPr>
          <p:cNvSpPr/>
          <p:nvPr/>
        </p:nvSpPr>
        <p:spPr>
          <a:xfrm>
            <a:off x="5065200" y="4439720"/>
            <a:ext cx="365616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en-US" sz="1200" b="0" u="none" strike="noStrike">
                <a:solidFill>
                  <a:srgbClr val="000000"/>
                </a:solidFill>
                <a:effectLst/>
                <a:uFillTx/>
                <a:latin typeface="Arial"/>
              </a:rPr>
              <a:t>Figure 1: Ecosystem of the Python programming language from the perspective of dependencies.</a:t>
            </a:r>
          </a:p>
        </p:txBody>
      </p:sp>
    </p:spTree>
    <p:extLst>
      <p:ext uri="{BB962C8B-B14F-4D97-AF65-F5344CB8AC3E}">
        <p14:creationId xmlns:p14="http://schemas.microsoft.com/office/powerpoint/2010/main" val="2139233061"/>
      </p:ext>
    </p:extLst>
  </p:cSld>
  <p:clrMapOvr>
    <a:masterClrMapping/>
  </p:clrMapOvr>
  <p:transition spd="slow" advTm="70039"/>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F9D9A-30B1-C9B4-BA5A-CBAE608F1880}"/>
            </a:ext>
          </a:extLst>
        </p:cNvPr>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ED87A3C3-0048-7085-CA0E-2850652F9B3C}"/>
              </a:ext>
            </a:extLst>
          </p:cNvPr>
          <p:cNvSpPr/>
          <p:nvPr/>
        </p:nvSpPr>
        <p:spPr>
          <a:xfrm>
            <a:off x="-5715" y="-66"/>
            <a:ext cx="9149715" cy="725570"/>
          </a:xfrm>
          <a:prstGeom prst="rect">
            <a:avLst/>
          </a:prstGeom>
          <a:gradFill flip="none" rotWithShape="1">
            <a:gsLst>
              <a:gs pos="35000">
                <a:srgbClr val="36ACD8"/>
              </a:gs>
              <a:gs pos="78000">
                <a:srgbClr val="2E6CA4"/>
              </a:gs>
              <a:gs pos="100000">
                <a:srgbClr val="2E76A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Прямоугольник 11">
            <a:extLst>
              <a:ext uri="{FF2B5EF4-FFF2-40B4-BE49-F238E27FC236}">
                <a16:creationId xmlns:a16="http://schemas.microsoft.com/office/drawing/2014/main" id="{5EAEDE71-2DC1-8180-EA49-5900F09E8898}"/>
              </a:ext>
            </a:extLst>
          </p:cNvPr>
          <p:cNvSpPr/>
          <p:nvPr/>
        </p:nvSpPr>
        <p:spPr>
          <a:xfrm>
            <a:off x="8604448" y="-2906"/>
            <a:ext cx="206809" cy="79665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13" name="Пятиугольник 84">
            <a:extLst>
              <a:ext uri="{FF2B5EF4-FFF2-40B4-BE49-F238E27FC236}">
                <a16:creationId xmlns:a16="http://schemas.microsoft.com/office/drawing/2014/main" id="{FBEEEA81-4B82-6A77-43DA-D118AF0974E1}"/>
              </a:ext>
            </a:extLst>
          </p:cNvPr>
          <p:cNvSpPr/>
          <p:nvPr/>
        </p:nvSpPr>
        <p:spPr>
          <a:xfrm rot="5400000">
            <a:off x="16369" y="101765"/>
            <a:ext cx="901896" cy="698366"/>
          </a:xfrm>
          <a:prstGeom prst="homePlate">
            <a:avLst>
              <a:gd name="adj" fmla="val 22381"/>
            </a:avLst>
          </a:prstGeom>
          <a:solidFill>
            <a:srgbClr val="1CBA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4" name="Рисунок 13">
            <a:extLst>
              <a:ext uri="{FF2B5EF4-FFF2-40B4-BE49-F238E27FC236}">
                <a16:creationId xmlns:a16="http://schemas.microsoft.com/office/drawing/2014/main" id="{E506F8FC-8FAF-5674-EB9F-1783296B462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70541" y="276220"/>
            <a:ext cx="593734" cy="305513"/>
          </a:xfrm>
          <a:prstGeom prst="rect">
            <a:avLst/>
          </a:prstGeom>
        </p:spPr>
      </p:pic>
      <p:sp>
        <p:nvSpPr>
          <p:cNvPr id="7" name="Заголовок 6">
            <a:extLst>
              <a:ext uri="{FF2B5EF4-FFF2-40B4-BE49-F238E27FC236}">
                <a16:creationId xmlns:a16="http://schemas.microsoft.com/office/drawing/2014/main" id="{AE112303-9AFE-57B0-AB44-9D3339DF2F3C}"/>
              </a:ext>
            </a:extLst>
          </p:cNvPr>
          <p:cNvSpPr>
            <a:spLocks noGrp="1"/>
          </p:cNvSpPr>
          <p:nvPr>
            <p:ph type="title"/>
          </p:nvPr>
        </p:nvSpPr>
        <p:spPr>
          <a:xfrm>
            <a:off x="240673" y="59887"/>
            <a:ext cx="3311525" cy="369332"/>
          </a:xfrm>
        </p:spPr>
        <p:txBody>
          <a:bodyPr>
            <a:spAutoFit/>
          </a:bodyPr>
          <a:lstStyle/>
          <a:p>
            <a:pPr algn="ctr" eaLnBrk="1" hangingPunct="1">
              <a:spcAft>
                <a:spcPts val="0"/>
              </a:spcAft>
              <a:defRPr/>
            </a:pP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20</a:t>
            </a:r>
            <a:r>
              <a:rPr lang="uk-UA"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2</a:t>
            </a:r>
            <a:r>
              <a:rPr lang="ru-RU" sz="2000" b="1"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6</a:t>
            </a: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 </a:t>
            </a:r>
            <a:r>
              <a:rPr lang="en-US" sz="2000" b="1"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IEEE </a:t>
            </a: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SIST</a:t>
            </a:r>
            <a:endParaRPr lang="uk-UA" sz="20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endParaRPr>
          </a:p>
        </p:txBody>
      </p:sp>
      <p:pic>
        <p:nvPicPr>
          <p:cNvPr id="28" name="Рисунок 27">
            <a:extLst>
              <a:ext uri="{FF2B5EF4-FFF2-40B4-BE49-F238E27FC236}">
                <a16:creationId xmlns:a16="http://schemas.microsoft.com/office/drawing/2014/main" id="{FDD077E1-14FC-2571-0EA8-19A37D5AF63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839663" y="-2906"/>
            <a:ext cx="1304337" cy="796656"/>
          </a:xfrm>
          <a:prstGeom prst="rect">
            <a:avLst/>
          </a:prstGeom>
        </p:spPr>
      </p:pic>
      <p:sp>
        <p:nvSpPr>
          <p:cNvPr id="27" name="Прямоугольник 26">
            <a:extLst>
              <a:ext uri="{FF2B5EF4-FFF2-40B4-BE49-F238E27FC236}">
                <a16:creationId xmlns:a16="http://schemas.microsoft.com/office/drawing/2014/main" id="{114E0843-25E1-4F3A-F99E-A00D063CB619}"/>
              </a:ext>
            </a:extLst>
          </p:cNvPr>
          <p:cNvSpPr/>
          <p:nvPr/>
        </p:nvSpPr>
        <p:spPr>
          <a:xfrm>
            <a:off x="0" y="6146441"/>
            <a:ext cx="9149715" cy="725570"/>
          </a:xfrm>
          <a:prstGeom prst="rect">
            <a:avLst/>
          </a:prstGeom>
          <a:gradFill flip="none" rotWithShape="1">
            <a:gsLst>
              <a:gs pos="35000">
                <a:srgbClr val="36ACD8"/>
              </a:gs>
              <a:gs pos="78000">
                <a:srgbClr val="2E6CA4"/>
              </a:gs>
              <a:gs pos="100000">
                <a:srgbClr val="2E76A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p>
        </p:txBody>
      </p:sp>
      <p:pic>
        <p:nvPicPr>
          <p:cNvPr id="2" name="Picture 7" descr="A blue text on a black background&#10;&#10;Description automatically generated">
            <a:extLst>
              <a:ext uri="{FF2B5EF4-FFF2-40B4-BE49-F238E27FC236}">
                <a16:creationId xmlns:a16="http://schemas.microsoft.com/office/drawing/2014/main" id="{CE674E76-1D1F-C858-0CAF-EB891C2BC72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296263" y="6342108"/>
            <a:ext cx="1076787" cy="387872"/>
          </a:xfrm>
          <a:prstGeom prst="rect">
            <a:avLst/>
          </a:prstGeom>
        </p:spPr>
      </p:pic>
      <p:pic>
        <p:nvPicPr>
          <p:cNvPr id="3" name="Рисунок 2" descr="Изображение выглядит как Шрифт, Графика, текст, круг&#10;&#10;Автоматически созданное описание">
            <a:extLst>
              <a:ext uri="{FF2B5EF4-FFF2-40B4-BE49-F238E27FC236}">
                <a16:creationId xmlns:a16="http://schemas.microsoft.com/office/drawing/2014/main" id="{2EFD4FE5-1368-ADBD-669D-6049E871AB4B}"/>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020678" y="6334640"/>
            <a:ext cx="784691" cy="402808"/>
          </a:xfrm>
          <a:prstGeom prst="rect">
            <a:avLst/>
          </a:prstGeom>
        </p:spPr>
      </p:pic>
      <p:pic>
        <p:nvPicPr>
          <p:cNvPr id="4" name="Рисунок 3">
            <a:extLst>
              <a:ext uri="{FF2B5EF4-FFF2-40B4-BE49-F238E27FC236}">
                <a16:creationId xmlns:a16="http://schemas.microsoft.com/office/drawing/2014/main" id="{6172D9DF-9A5A-6D25-5270-4CADC89B3064}"/>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24003" y="6273572"/>
            <a:ext cx="1174783" cy="471307"/>
          </a:xfrm>
          <a:prstGeom prst="rect">
            <a:avLst/>
          </a:prstGeom>
          <a:noFill/>
          <a:ln>
            <a:noFill/>
          </a:ln>
        </p:spPr>
      </p:pic>
      <p:pic>
        <p:nvPicPr>
          <p:cNvPr id="5" name="Рисунок 4">
            <a:extLst>
              <a:ext uri="{FF2B5EF4-FFF2-40B4-BE49-F238E27FC236}">
                <a16:creationId xmlns:a16="http://schemas.microsoft.com/office/drawing/2014/main" id="{698EA209-971F-8C12-0863-DEA52D5E958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44140" y="6259474"/>
            <a:ext cx="412394" cy="538174"/>
          </a:xfrm>
          <a:prstGeom prst="rect">
            <a:avLst/>
          </a:prstGeom>
        </p:spPr>
      </p:pic>
      <p:pic>
        <p:nvPicPr>
          <p:cNvPr id="6" name="Рисунок 5">
            <a:extLst>
              <a:ext uri="{FF2B5EF4-FFF2-40B4-BE49-F238E27FC236}">
                <a16:creationId xmlns:a16="http://schemas.microsoft.com/office/drawing/2014/main" id="{8CB094A8-8061-58B1-86B3-C3AD2A96885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18404" y="6273572"/>
            <a:ext cx="1060923" cy="509978"/>
          </a:xfrm>
          <a:prstGeom prst="rect">
            <a:avLst/>
          </a:prstGeom>
        </p:spPr>
      </p:pic>
      <p:pic>
        <p:nvPicPr>
          <p:cNvPr id="8" name="Рисунок 7">
            <a:extLst>
              <a:ext uri="{FF2B5EF4-FFF2-40B4-BE49-F238E27FC236}">
                <a16:creationId xmlns:a16="http://schemas.microsoft.com/office/drawing/2014/main" id="{EADDAA8B-55D0-BC09-38EF-AED514C016D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5919" y="6285329"/>
            <a:ext cx="1007689" cy="471307"/>
          </a:xfrm>
          <a:prstGeom prst="rect">
            <a:avLst/>
          </a:prstGeom>
        </p:spPr>
      </p:pic>
      <p:pic>
        <p:nvPicPr>
          <p:cNvPr id="9" name="Рисунок 8">
            <a:extLst>
              <a:ext uri="{FF2B5EF4-FFF2-40B4-BE49-F238E27FC236}">
                <a16:creationId xmlns:a16="http://schemas.microsoft.com/office/drawing/2014/main" id="{41D49A9E-F580-31BB-D8B9-A42FED8616E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324586" y="6315453"/>
            <a:ext cx="493286" cy="441183"/>
          </a:xfrm>
          <a:prstGeom prst="rect">
            <a:avLst/>
          </a:prstGeom>
        </p:spPr>
      </p:pic>
      <p:sp>
        <p:nvSpPr>
          <p:cNvPr id="15" name="PlaceHolder 2">
            <a:extLst>
              <a:ext uri="{FF2B5EF4-FFF2-40B4-BE49-F238E27FC236}">
                <a16:creationId xmlns:a16="http://schemas.microsoft.com/office/drawing/2014/main" id="{3FD4C989-7A80-54BE-6848-81CA98B25759}"/>
              </a:ext>
            </a:extLst>
          </p:cNvPr>
          <p:cNvSpPr txBox="1">
            <a:spLocks/>
          </p:cNvSpPr>
          <p:nvPr/>
        </p:nvSpPr>
        <p:spPr>
          <a:xfrm>
            <a:off x="107504" y="1661048"/>
            <a:ext cx="4800600" cy="3424136"/>
          </a:xfrm>
          <a:prstGeom prst="rect">
            <a:avLst/>
          </a:prstGeom>
          <a:noFill/>
          <a:ln w="0">
            <a:noFill/>
          </a:ln>
        </p:spPr>
        <p:txBody>
          <a:bodyPr vert="horz" lIns="91440" tIns="45720" rIns="91440" bIns="45720" rtlCol="0" anchor="t">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171360">
              <a:spcBef>
                <a:spcPts val="751"/>
              </a:spcBef>
              <a:tabLst>
                <a:tab pos="0" algn="l"/>
              </a:tabLst>
            </a:pPr>
            <a:r>
              <a:rPr lang="en-US" sz="2100" dirty="0">
                <a:solidFill>
                  <a:schemeClr val="dk1"/>
                </a:solidFill>
                <a:latin typeface="Calibri"/>
              </a:rPr>
              <a:t>Supply chain attacks</a:t>
            </a:r>
            <a:endParaRPr lang="en-US" sz="2100" dirty="0">
              <a:solidFill>
                <a:srgbClr val="000000"/>
              </a:solidFill>
              <a:latin typeface="Arial"/>
            </a:endParaRPr>
          </a:p>
          <a:p>
            <a:pPr marL="864000" lvl="1" indent="-324000" algn="just" defTabSz="685800">
              <a:lnSpc>
                <a:spcPct val="90000"/>
              </a:lnSpc>
              <a:spcBef>
                <a:spcPts val="1134"/>
              </a:spcBef>
              <a:buClr>
                <a:srgbClr val="000000"/>
              </a:buClr>
              <a:buSzPct val="75000"/>
              <a:buFont typeface="Symbol" charset="2"/>
              <a:buChar char=""/>
              <a:tabLst>
                <a:tab pos="0" algn="l"/>
              </a:tabLst>
            </a:pPr>
            <a:r>
              <a:rPr lang="en-US" sz="1500" kern="0" dirty="0">
                <a:solidFill>
                  <a:schemeClr val="dk1"/>
                </a:solidFill>
                <a:latin typeface="Calibri"/>
              </a:rPr>
              <a:t>The modern economy is service-oriented and highly interconnected in the global supply chain, where everyone relies on each other to mitigate issues of resource constraints by integrating external dependencies to solve common problems, as represented in Figure 2.</a:t>
            </a:r>
            <a:endParaRPr lang="en-US" sz="1500" kern="0" dirty="0">
              <a:solidFill>
                <a:srgbClr val="000000"/>
              </a:solidFill>
              <a:latin typeface="Arial"/>
            </a:endParaRPr>
          </a:p>
          <a:p>
            <a:pPr marL="864000" lvl="1" indent="-324000" algn="just" defTabSz="685800">
              <a:lnSpc>
                <a:spcPct val="90000"/>
              </a:lnSpc>
              <a:spcBef>
                <a:spcPts val="1134"/>
              </a:spcBef>
              <a:buClr>
                <a:srgbClr val="000000"/>
              </a:buClr>
              <a:buSzPct val="75000"/>
              <a:buFont typeface="Symbol" charset="2"/>
              <a:buChar char=""/>
              <a:tabLst>
                <a:tab pos="0" algn="l"/>
              </a:tabLst>
            </a:pPr>
            <a:r>
              <a:rPr lang="en-US" sz="1500" kern="0" dirty="0">
                <a:solidFill>
                  <a:schemeClr val="dk1"/>
                </a:solidFill>
                <a:latin typeface="Calibri"/>
              </a:rPr>
              <a:t>Any risks and failures in a single link can cause a cascading effect across the entire chain, exposing the ability to implicitly or explicitly influence on any IT infrastructure by leveraging direct and indirect (i.e., transitive) dependencies, as demonstrated in Figure 3.</a:t>
            </a:r>
            <a:endParaRPr lang="en-US" sz="1500" kern="0" dirty="0">
              <a:solidFill>
                <a:srgbClr val="000000"/>
              </a:solidFill>
              <a:latin typeface="Arial"/>
            </a:endParaRPr>
          </a:p>
        </p:txBody>
      </p:sp>
      <p:pic>
        <p:nvPicPr>
          <p:cNvPr id="16" name="Picture 15">
            <a:extLst>
              <a:ext uri="{FF2B5EF4-FFF2-40B4-BE49-F238E27FC236}">
                <a16:creationId xmlns:a16="http://schemas.microsoft.com/office/drawing/2014/main" id="{E8F8F267-C227-5827-2AD4-F062098F1B0A}"/>
              </a:ext>
            </a:extLst>
          </p:cNvPr>
          <p:cNvPicPr/>
          <p:nvPr/>
        </p:nvPicPr>
        <p:blipFill>
          <a:blip r:embed="rId11"/>
          <a:stretch/>
        </p:blipFill>
        <p:spPr>
          <a:xfrm>
            <a:off x="5029200" y="1378440"/>
            <a:ext cx="3656160" cy="1259640"/>
          </a:xfrm>
          <a:prstGeom prst="rect">
            <a:avLst/>
          </a:prstGeom>
          <a:noFill/>
          <a:ln w="0">
            <a:noFill/>
          </a:ln>
        </p:spPr>
      </p:pic>
      <p:pic>
        <p:nvPicPr>
          <p:cNvPr id="17" name="Picture 16">
            <a:extLst>
              <a:ext uri="{FF2B5EF4-FFF2-40B4-BE49-F238E27FC236}">
                <a16:creationId xmlns:a16="http://schemas.microsoft.com/office/drawing/2014/main" id="{72D668DE-5751-7FCF-5164-8094AA4C8C86}"/>
              </a:ext>
            </a:extLst>
          </p:cNvPr>
          <p:cNvPicPr/>
          <p:nvPr/>
        </p:nvPicPr>
        <p:blipFill>
          <a:blip r:embed="rId12"/>
          <a:stretch/>
        </p:blipFill>
        <p:spPr>
          <a:xfrm>
            <a:off x="5029560" y="3361320"/>
            <a:ext cx="3655800" cy="1224360"/>
          </a:xfrm>
          <a:prstGeom prst="rect">
            <a:avLst/>
          </a:prstGeom>
          <a:noFill/>
          <a:ln w="0">
            <a:noFill/>
          </a:ln>
        </p:spPr>
      </p:pic>
      <p:sp>
        <p:nvSpPr>
          <p:cNvPr id="18" name="Rectangle 17">
            <a:extLst>
              <a:ext uri="{FF2B5EF4-FFF2-40B4-BE49-F238E27FC236}">
                <a16:creationId xmlns:a16="http://schemas.microsoft.com/office/drawing/2014/main" id="{4056429E-ED0F-0CC9-F22B-47683A4DF178}"/>
              </a:ext>
            </a:extLst>
          </p:cNvPr>
          <p:cNvSpPr/>
          <p:nvPr/>
        </p:nvSpPr>
        <p:spPr>
          <a:xfrm>
            <a:off x="5029200" y="2701080"/>
            <a:ext cx="365616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en-US" sz="1200" b="0" u="none" strike="noStrike">
                <a:solidFill>
                  <a:srgbClr val="000000"/>
                </a:solidFill>
                <a:effectLst/>
                <a:uFillTx/>
                <a:latin typeface="Arial"/>
              </a:rPr>
              <a:t>Figure 2: Simplified example of the global supply chain in the IT context.</a:t>
            </a:r>
          </a:p>
        </p:txBody>
      </p:sp>
      <p:sp>
        <p:nvSpPr>
          <p:cNvPr id="19" name="Rectangle 18">
            <a:extLst>
              <a:ext uri="{FF2B5EF4-FFF2-40B4-BE49-F238E27FC236}">
                <a16:creationId xmlns:a16="http://schemas.microsoft.com/office/drawing/2014/main" id="{ADFF58B4-D6F1-C4E6-0225-02ED0D0F156E}"/>
              </a:ext>
            </a:extLst>
          </p:cNvPr>
          <p:cNvSpPr/>
          <p:nvPr/>
        </p:nvSpPr>
        <p:spPr>
          <a:xfrm>
            <a:off x="5029200" y="4650840"/>
            <a:ext cx="3656160" cy="1004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en-US" sz="1200" b="0" u="none" strike="noStrike">
                <a:solidFill>
                  <a:srgbClr val="000000"/>
                </a:solidFill>
                <a:effectLst/>
                <a:uFillTx/>
                <a:latin typeface="Arial"/>
              </a:rPr>
              <a:t>Figure 3: Dependency resolution is a variation on the topic of the constraint satisfaction problem where the objective is to satisfy a predefined set of conditions and rules (version requirements or other ecosystem-specific rules).</a:t>
            </a:r>
          </a:p>
        </p:txBody>
      </p:sp>
    </p:spTree>
    <p:extLst>
      <p:ext uri="{BB962C8B-B14F-4D97-AF65-F5344CB8AC3E}">
        <p14:creationId xmlns:p14="http://schemas.microsoft.com/office/powerpoint/2010/main" val="2790691531"/>
      </p:ext>
    </p:extLst>
  </p:cSld>
  <p:clrMapOvr>
    <a:masterClrMapping/>
  </p:clrMapOvr>
  <p:transition spd="slow" advTm="70039"/>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2E670-D19A-5A80-A7DA-3A12D7BA003E}"/>
            </a:ext>
          </a:extLst>
        </p:cNvPr>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195DFF15-186C-C598-B8CB-82E6CAF21720}"/>
              </a:ext>
            </a:extLst>
          </p:cNvPr>
          <p:cNvSpPr/>
          <p:nvPr/>
        </p:nvSpPr>
        <p:spPr>
          <a:xfrm>
            <a:off x="-5715" y="-66"/>
            <a:ext cx="9149715" cy="725570"/>
          </a:xfrm>
          <a:prstGeom prst="rect">
            <a:avLst/>
          </a:prstGeom>
          <a:gradFill flip="none" rotWithShape="1">
            <a:gsLst>
              <a:gs pos="35000">
                <a:srgbClr val="36ACD8"/>
              </a:gs>
              <a:gs pos="78000">
                <a:srgbClr val="2E6CA4"/>
              </a:gs>
              <a:gs pos="100000">
                <a:srgbClr val="2E76A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Прямоугольник 11">
            <a:extLst>
              <a:ext uri="{FF2B5EF4-FFF2-40B4-BE49-F238E27FC236}">
                <a16:creationId xmlns:a16="http://schemas.microsoft.com/office/drawing/2014/main" id="{1C6CAE68-E898-D3F9-C347-B56D905102B1}"/>
              </a:ext>
            </a:extLst>
          </p:cNvPr>
          <p:cNvSpPr/>
          <p:nvPr/>
        </p:nvSpPr>
        <p:spPr>
          <a:xfrm>
            <a:off x="8604448" y="-2906"/>
            <a:ext cx="206809" cy="79665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13" name="Пятиугольник 84">
            <a:extLst>
              <a:ext uri="{FF2B5EF4-FFF2-40B4-BE49-F238E27FC236}">
                <a16:creationId xmlns:a16="http://schemas.microsoft.com/office/drawing/2014/main" id="{56B67096-2666-9952-F235-7B6833AEF266}"/>
              </a:ext>
            </a:extLst>
          </p:cNvPr>
          <p:cNvSpPr/>
          <p:nvPr/>
        </p:nvSpPr>
        <p:spPr>
          <a:xfrm rot="5400000">
            <a:off x="16369" y="101765"/>
            <a:ext cx="901896" cy="698366"/>
          </a:xfrm>
          <a:prstGeom prst="homePlate">
            <a:avLst>
              <a:gd name="adj" fmla="val 22381"/>
            </a:avLst>
          </a:prstGeom>
          <a:solidFill>
            <a:srgbClr val="1CBA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4" name="Рисунок 13">
            <a:extLst>
              <a:ext uri="{FF2B5EF4-FFF2-40B4-BE49-F238E27FC236}">
                <a16:creationId xmlns:a16="http://schemas.microsoft.com/office/drawing/2014/main" id="{D33BAAEE-88A9-58DC-D682-ACAB1B8E2B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70541" y="276220"/>
            <a:ext cx="593734" cy="305513"/>
          </a:xfrm>
          <a:prstGeom prst="rect">
            <a:avLst/>
          </a:prstGeom>
        </p:spPr>
      </p:pic>
      <p:sp>
        <p:nvSpPr>
          <p:cNvPr id="7" name="Заголовок 6">
            <a:extLst>
              <a:ext uri="{FF2B5EF4-FFF2-40B4-BE49-F238E27FC236}">
                <a16:creationId xmlns:a16="http://schemas.microsoft.com/office/drawing/2014/main" id="{1E78AD77-8EB7-DB86-C076-935037A7A979}"/>
              </a:ext>
            </a:extLst>
          </p:cNvPr>
          <p:cNvSpPr>
            <a:spLocks noGrp="1"/>
          </p:cNvSpPr>
          <p:nvPr>
            <p:ph type="title"/>
          </p:nvPr>
        </p:nvSpPr>
        <p:spPr>
          <a:xfrm>
            <a:off x="240673" y="59887"/>
            <a:ext cx="3311525" cy="369332"/>
          </a:xfrm>
        </p:spPr>
        <p:txBody>
          <a:bodyPr>
            <a:spAutoFit/>
          </a:bodyPr>
          <a:lstStyle/>
          <a:p>
            <a:pPr algn="ctr" eaLnBrk="1" hangingPunct="1">
              <a:spcAft>
                <a:spcPts val="0"/>
              </a:spcAft>
              <a:defRPr/>
            </a:pP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20</a:t>
            </a:r>
            <a:r>
              <a:rPr lang="uk-UA"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2</a:t>
            </a:r>
            <a:r>
              <a:rPr lang="ru-RU" sz="2000" b="1"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6</a:t>
            </a: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 </a:t>
            </a:r>
            <a:r>
              <a:rPr lang="en-US" sz="2000" b="1"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IEEE </a:t>
            </a: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SIST</a:t>
            </a:r>
            <a:endParaRPr lang="uk-UA" sz="20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endParaRPr>
          </a:p>
        </p:txBody>
      </p:sp>
      <p:pic>
        <p:nvPicPr>
          <p:cNvPr id="28" name="Рисунок 27">
            <a:extLst>
              <a:ext uri="{FF2B5EF4-FFF2-40B4-BE49-F238E27FC236}">
                <a16:creationId xmlns:a16="http://schemas.microsoft.com/office/drawing/2014/main" id="{50FB4626-55BF-DC68-5834-5D482523323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839663" y="-2906"/>
            <a:ext cx="1304337" cy="796656"/>
          </a:xfrm>
          <a:prstGeom prst="rect">
            <a:avLst/>
          </a:prstGeom>
        </p:spPr>
      </p:pic>
      <p:sp>
        <p:nvSpPr>
          <p:cNvPr id="27" name="Прямоугольник 26">
            <a:extLst>
              <a:ext uri="{FF2B5EF4-FFF2-40B4-BE49-F238E27FC236}">
                <a16:creationId xmlns:a16="http://schemas.microsoft.com/office/drawing/2014/main" id="{4F38541D-3CB3-2AB1-D814-A5E88A533D2E}"/>
              </a:ext>
            </a:extLst>
          </p:cNvPr>
          <p:cNvSpPr/>
          <p:nvPr/>
        </p:nvSpPr>
        <p:spPr>
          <a:xfrm>
            <a:off x="0" y="6146441"/>
            <a:ext cx="9149715" cy="725570"/>
          </a:xfrm>
          <a:prstGeom prst="rect">
            <a:avLst/>
          </a:prstGeom>
          <a:gradFill flip="none" rotWithShape="1">
            <a:gsLst>
              <a:gs pos="35000">
                <a:srgbClr val="36ACD8"/>
              </a:gs>
              <a:gs pos="78000">
                <a:srgbClr val="2E6CA4"/>
              </a:gs>
              <a:gs pos="100000">
                <a:srgbClr val="2E76A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p>
        </p:txBody>
      </p:sp>
      <p:pic>
        <p:nvPicPr>
          <p:cNvPr id="2" name="Picture 7" descr="A blue text on a black background&#10;&#10;Description automatically generated">
            <a:extLst>
              <a:ext uri="{FF2B5EF4-FFF2-40B4-BE49-F238E27FC236}">
                <a16:creationId xmlns:a16="http://schemas.microsoft.com/office/drawing/2014/main" id="{50E69947-D85B-CB61-D998-44CA5F014A3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296263" y="6342108"/>
            <a:ext cx="1076787" cy="387872"/>
          </a:xfrm>
          <a:prstGeom prst="rect">
            <a:avLst/>
          </a:prstGeom>
        </p:spPr>
      </p:pic>
      <p:pic>
        <p:nvPicPr>
          <p:cNvPr id="3" name="Рисунок 2" descr="Изображение выглядит как Шрифт, Графика, текст, круг&#10;&#10;Автоматически созданное описание">
            <a:extLst>
              <a:ext uri="{FF2B5EF4-FFF2-40B4-BE49-F238E27FC236}">
                <a16:creationId xmlns:a16="http://schemas.microsoft.com/office/drawing/2014/main" id="{6E43CCD0-E8DF-2B2B-1667-9C00F0477095}"/>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020678" y="6334640"/>
            <a:ext cx="784691" cy="402808"/>
          </a:xfrm>
          <a:prstGeom prst="rect">
            <a:avLst/>
          </a:prstGeom>
        </p:spPr>
      </p:pic>
      <p:pic>
        <p:nvPicPr>
          <p:cNvPr id="4" name="Рисунок 3">
            <a:extLst>
              <a:ext uri="{FF2B5EF4-FFF2-40B4-BE49-F238E27FC236}">
                <a16:creationId xmlns:a16="http://schemas.microsoft.com/office/drawing/2014/main" id="{10F98927-4BBA-BFDE-BC56-DC9AE8EA3A0C}"/>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24003" y="6273572"/>
            <a:ext cx="1174783" cy="471307"/>
          </a:xfrm>
          <a:prstGeom prst="rect">
            <a:avLst/>
          </a:prstGeom>
          <a:noFill/>
          <a:ln>
            <a:noFill/>
          </a:ln>
        </p:spPr>
      </p:pic>
      <p:pic>
        <p:nvPicPr>
          <p:cNvPr id="5" name="Рисунок 4">
            <a:extLst>
              <a:ext uri="{FF2B5EF4-FFF2-40B4-BE49-F238E27FC236}">
                <a16:creationId xmlns:a16="http://schemas.microsoft.com/office/drawing/2014/main" id="{92B27020-D94B-3EA2-DB6C-66D5D72F165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44140" y="6259474"/>
            <a:ext cx="412394" cy="538174"/>
          </a:xfrm>
          <a:prstGeom prst="rect">
            <a:avLst/>
          </a:prstGeom>
        </p:spPr>
      </p:pic>
      <p:pic>
        <p:nvPicPr>
          <p:cNvPr id="6" name="Рисунок 5">
            <a:extLst>
              <a:ext uri="{FF2B5EF4-FFF2-40B4-BE49-F238E27FC236}">
                <a16:creationId xmlns:a16="http://schemas.microsoft.com/office/drawing/2014/main" id="{33771B16-D2C5-FE9C-7CCE-457D55A33B8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18404" y="6273572"/>
            <a:ext cx="1060923" cy="509978"/>
          </a:xfrm>
          <a:prstGeom prst="rect">
            <a:avLst/>
          </a:prstGeom>
        </p:spPr>
      </p:pic>
      <p:pic>
        <p:nvPicPr>
          <p:cNvPr id="8" name="Рисунок 7">
            <a:extLst>
              <a:ext uri="{FF2B5EF4-FFF2-40B4-BE49-F238E27FC236}">
                <a16:creationId xmlns:a16="http://schemas.microsoft.com/office/drawing/2014/main" id="{0C6A55B9-AE86-502D-2530-FA6324A5FAB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5919" y="6285329"/>
            <a:ext cx="1007689" cy="471307"/>
          </a:xfrm>
          <a:prstGeom prst="rect">
            <a:avLst/>
          </a:prstGeom>
        </p:spPr>
      </p:pic>
      <p:pic>
        <p:nvPicPr>
          <p:cNvPr id="9" name="Рисунок 8">
            <a:extLst>
              <a:ext uri="{FF2B5EF4-FFF2-40B4-BE49-F238E27FC236}">
                <a16:creationId xmlns:a16="http://schemas.microsoft.com/office/drawing/2014/main" id="{64B2E446-3091-6898-1602-3FFB76C1349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324586" y="6315453"/>
            <a:ext cx="493286" cy="441183"/>
          </a:xfrm>
          <a:prstGeom prst="rect">
            <a:avLst/>
          </a:prstGeom>
        </p:spPr>
      </p:pic>
      <p:sp>
        <p:nvSpPr>
          <p:cNvPr id="15" name="PlaceHolder 2">
            <a:extLst>
              <a:ext uri="{FF2B5EF4-FFF2-40B4-BE49-F238E27FC236}">
                <a16:creationId xmlns:a16="http://schemas.microsoft.com/office/drawing/2014/main" id="{0AC7999A-9F8A-96BD-6748-7EB3522B4770}"/>
              </a:ext>
            </a:extLst>
          </p:cNvPr>
          <p:cNvSpPr txBox="1">
            <a:spLocks/>
          </p:cNvSpPr>
          <p:nvPr/>
        </p:nvSpPr>
        <p:spPr>
          <a:xfrm>
            <a:off x="300600" y="1203316"/>
            <a:ext cx="8456760" cy="2945764"/>
          </a:xfrm>
          <a:prstGeom prst="rect">
            <a:avLst/>
          </a:prstGeom>
          <a:noFill/>
          <a:ln w="0">
            <a:noFill/>
          </a:ln>
        </p:spPr>
        <p:txBody>
          <a:bodyPr vert="horz" lIns="91440" tIns="45720" rIns="91440" bIns="45720" rtlCol="0" anchor="t">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171360">
              <a:spcBef>
                <a:spcPts val="751"/>
              </a:spcBef>
              <a:tabLst>
                <a:tab pos="0" algn="l"/>
              </a:tabLst>
            </a:pPr>
            <a:r>
              <a:rPr lang="en-US" sz="2100" dirty="0">
                <a:solidFill>
                  <a:schemeClr val="dk1"/>
                </a:solidFill>
                <a:latin typeface="Calibri"/>
              </a:rPr>
              <a:t>Compromise and trust</a:t>
            </a:r>
            <a:endParaRPr lang="en-US" sz="2100" dirty="0">
              <a:solidFill>
                <a:srgbClr val="000000"/>
              </a:solidFill>
              <a:latin typeface="Arial"/>
            </a:endParaRPr>
          </a:p>
          <a:p>
            <a:pPr marL="864000" lvl="1" indent="-324000" algn="just" defTabSz="685800">
              <a:lnSpc>
                <a:spcPct val="90000"/>
              </a:lnSpc>
              <a:spcBef>
                <a:spcPts val="1134"/>
              </a:spcBef>
              <a:buClr>
                <a:srgbClr val="000000"/>
              </a:buClr>
              <a:buSzPct val="75000"/>
              <a:buFont typeface="Symbol" charset="2"/>
              <a:buChar char=""/>
              <a:tabLst>
                <a:tab pos="0" algn="l"/>
              </a:tabLst>
            </a:pPr>
            <a:r>
              <a:rPr lang="en-US" sz="1500" kern="0" dirty="0">
                <a:solidFill>
                  <a:schemeClr val="dk1"/>
                </a:solidFill>
                <a:latin typeface="Calibri"/>
              </a:rPr>
              <a:t>Popular or operation-critical software products have a strong influence on the whole landscape, affecting on dependent infrastructure and global contracts of security, as shown in Figure 4.</a:t>
            </a:r>
            <a:endParaRPr lang="en-US" sz="1500" kern="0" dirty="0">
              <a:solidFill>
                <a:srgbClr val="000000"/>
              </a:solidFill>
              <a:latin typeface="Arial"/>
            </a:endParaRPr>
          </a:p>
          <a:p>
            <a:pPr marL="864000" lvl="1" indent="-324000" algn="just" defTabSz="685800">
              <a:lnSpc>
                <a:spcPct val="90000"/>
              </a:lnSpc>
              <a:spcBef>
                <a:spcPts val="1134"/>
              </a:spcBef>
              <a:buClr>
                <a:srgbClr val="000000"/>
              </a:buClr>
              <a:buSzPct val="75000"/>
              <a:buFont typeface="Symbol" charset="2"/>
              <a:buChar char=""/>
              <a:tabLst>
                <a:tab pos="0" algn="l"/>
              </a:tabLst>
            </a:pPr>
            <a:r>
              <a:rPr lang="en-US" sz="1500" kern="0" dirty="0">
                <a:solidFill>
                  <a:schemeClr val="dk1"/>
                </a:solidFill>
                <a:latin typeface="Calibri"/>
              </a:rPr>
              <a:t>Therefore, trust should be viewed as multiple models:</a:t>
            </a:r>
            <a:endParaRPr lang="en-US" sz="1500" kern="0" dirty="0">
              <a:solidFill>
                <a:srgbClr val="000000"/>
              </a:solidFill>
              <a:latin typeface="Arial"/>
            </a:endParaRPr>
          </a:p>
          <a:p>
            <a:pPr marL="1296000" lvl="2" indent="-288000" algn="just" defTabSz="685800">
              <a:lnSpc>
                <a:spcPct val="90000"/>
              </a:lnSpc>
              <a:spcBef>
                <a:spcPts val="850"/>
              </a:spcBef>
              <a:buClr>
                <a:srgbClr val="000000"/>
              </a:buClr>
              <a:buSzPct val="45000"/>
              <a:buFont typeface="Wingdings" charset="2"/>
              <a:buChar char=""/>
              <a:tabLst>
                <a:tab pos="0" algn="l"/>
              </a:tabLst>
            </a:pPr>
            <a:r>
              <a:rPr lang="en-US" sz="1350" kern="0" dirty="0">
                <a:solidFill>
                  <a:schemeClr val="dk1"/>
                </a:solidFill>
                <a:latin typeface="Calibri"/>
              </a:rPr>
              <a:t>Static trust is a relationship model that makes us vulnerable due to reliance on a third party without any doubt due to assumptions and distractions, considering them trustworthy.</a:t>
            </a:r>
            <a:endParaRPr lang="en-US" sz="1350" kern="0" dirty="0">
              <a:solidFill>
                <a:srgbClr val="000000"/>
              </a:solidFill>
              <a:latin typeface="Arial"/>
            </a:endParaRPr>
          </a:p>
          <a:p>
            <a:pPr marL="1296000" lvl="2" indent="-288000" algn="just" defTabSz="685800">
              <a:lnSpc>
                <a:spcPct val="90000"/>
              </a:lnSpc>
              <a:spcBef>
                <a:spcPts val="850"/>
              </a:spcBef>
              <a:buClr>
                <a:srgbClr val="000000"/>
              </a:buClr>
              <a:buSzPct val="45000"/>
              <a:buFont typeface="Wingdings" charset="2"/>
              <a:buChar char=""/>
              <a:tabLst>
                <a:tab pos="0" algn="l"/>
              </a:tabLst>
            </a:pPr>
            <a:r>
              <a:rPr lang="en-US" sz="1350" kern="0" dirty="0">
                <a:solidFill>
                  <a:schemeClr val="dk1"/>
                </a:solidFill>
                <a:latin typeface="Calibri"/>
                <a:ea typeface="DejaVu Sans"/>
              </a:rPr>
              <a:t>Dynamic trust is a dynamic probability of being trusted by someone else and vice versa, where any mistake from both parties leads to its loss by some amount [3].</a:t>
            </a:r>
            <a:endParaRPr lang="en-US" sz="1350" kern="0" dirty="0">
              <a:solidFill>
                <a:srgbClr val="000000"/>
              </a:solidFill>
              <a:latin typeface="Arial"/>
            </a:endParaRPr>
          </a:p>
          <a:p>
            <a:pPr marL="1296000" lvl="2" indent="-288000" algn="just" defTabSz="685800">
              <a:lnSpc>
                <a:spcPct val="90000"/>
              </a:lnSpc>
              <a:spcBef>
                <a:spcPts val="850"/>
              </a:spcBef>
              <a:buClr>
                <a:srgbClr val="000000"/>
              </a:buClr>
              <a:buSzPct val="45000"/>
              <a:buFont typeface="Wingdings" charset="2"/>
              <a:buChar char=""/>
              <a:tabLst>
                <a:tab pos="0" algn="l"/>
              </a:tabLst>
            </a:pPr>
            <a:r>
              <a:rPr lang="en-US" sz="1350" kern="0" dirty="0">
                <a:solidFill>
                  <a:schemeClr val="dk1"/>
                </a:solidFill>
                <a:latin typeface="Calibri"/>
                <a:ea typeface="DejaVu Sans"/>
              </a:rPr>
              <a:t>Zero trust requires continuous verification evaluation of all actions and actors instead of granting full access within a protected perimeter, assuming operating in a hostile environment [4].</a:t>
            </a:r>
            <a:endParaRPr lang="en-US" sz="1350" kern="0" dirty="0">
              <a:solidFill>
                <a:srgbClr val="000000"/>
              </a:solidFill>
              <a:latin typeface="Arial"/>
            </a:endParaRPr>
          </a:p>
        </p:txBody>
      </p:sp>
      <p:pic>
        <p:nvPicPr>
          <p:cNvPr id="16" name="Picture 15">
            <a:extLst>
              <a:ext uri="{FF2B5EF4-FFF2-40B4-BE49-F238E27FC236}">
                <a16:creationId xmlns:a16="http://schemas.microsoft.com/office/drawing/2014/main" id="{7E2245D7-FEBD-C503-9045-E39B059435F0}"/>
              </a:ext>
            </a:extLst>
          </p:cNvPr>
          <p:cNvPicPr/>
          <p:nvPr/>
        </p:nvPicPr>
        <p:blipFill>
          <a:blip r:embed="rId11"/>
          <a:stretch/>
        </p:blipFill>
        <p:spPr>
          <a:xfrm>
            <a:off x="699840" y="4279584"/>
            <a:ext cx="4737960" cy="1525680"/>
          </a:xfrm>
          <a:prstGeom prst="rect">
            <a:avLst/>
          </a:prstGeom>
          <a:noFill/>
          <a:ln w="0">
            <a:noFill/>
          </a:ln>
        </p:spPr>
      </p:pic>
      <p:sp>
        <p:nvSpPr>
          <p:cNvPr id="17" name="Rectangle 16">
            <a:extLst>
              <a:ext uri="{FF2B5EF4-FFF2-40B4-BE49-F238E27FC236}">
                <a16:creationId xmlns:a16="http://schemas.microsoft.com/office/drawing/2014/main" id="{D33A9E1D-7642-CB38-CC20-CC9921C93A04}"/>
              </a:ext>
            </a:extLst>
          </p:cNvPr>
          <p:cNvSpPr/>
          <p:nvPr/>
        </p:nvSpPr>
        <p:spPr>
          <a:xfrm>
            <a:off x="5559120" y="4783224"/>
            <a:ext cx="2742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en-US" sz="1200" b="0" u="none" strike="noStrike">
                <a:solidFill>
                  <a:srgbClr val="000000"/>
                </a:solidFill>
                <a:effectLst/>
                <a:uFillTx/>
                <a:latin typeface="Arial"/>
              </a:rPr>
              <a:t>Figure 4: An intermediary system between design and implementation.</a:t>
            </a:r>
          </a:p>
        </p:txBody>
      </p:sp>
    </p:spTree>
    <p:extLst>
      <p:ext uri="{BB962C8B-B14F-4D97-AF65-F5344CB8AC3E}">
        <p14:creationId xmlns:p14="http://schemas.microsoft.com/office/powerpoint/2010/main" val="3380821788"/>
      </p:ext>
    </p:extLst>
  </p:cSld>
  <p:clrMapOvr>
    <a:masterClrMapping/>
  </p:clrMapOvr>
  <p:transition spd="slow" advTm="70039"/>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43343-DB27-9D93-DA41-A2E94BEF2FF2}"/>
            </a:ext>
          </a:extLst>
        </p:cNvPr>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BA0ED106-064C-C19C-33F7-8D5F406043AB}"/>
              </a:ext>
            </a:extLst>
          </p:cNvPr>
          <p:cNvSpPr/>
          <p:nvPr/>
        </p:nvSpPr>
        <p:spPr>
          <a:xfrm>
            <a:off x="-5715" y="-66"/>
            <a:ext cx="9149715" cy="725570"/>
          </a:xfrm>
          <a:prstGeom prst="rect">
            <a:avLst/>
          </a:prstGeom>
          <a:gradFill flip="none" rotWithShape="1">
            <a:gsLst>
              <a:gs pos="35000">
                <a:srgbClr val="36ACD8"/>
              </a:gs>
              <a:gs pos="78000">
                <a:srgbClr val="2E6CA4"/>
              </a:gs>
              <a:gs pos="100000">
                <a:srgbClr val="2E76A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Прямоугольник 11">
            <a:extLst>
              <a:ext uri="{FF2B5EF4-FFF2-40B4-BE49-F238E27FC236}">
                <a16:creationId xmlns:a16="http://schemas.microsoft.com/office/drawing/2014/main" id="{ADA967D8-A821-2B3F-B7E2-5DC0C33E0EC2}"/>
              </a:ext>
            </a:extLst>
          </p:cNvPr>
          <p:cNvSpPr/>
          <p:nvPr/>
        </p:nvSpPr>
        <p:spPr>
          <a:xfrm>
            <a:off x="8604448" y="-2906"/>
            <a:ext cx="206809" cy="79665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13" name="Пятиугольник 84">
            <a:extLst>
              <a:ext uri="{FF2B5EF4-FFF2-40B4-BE49-F238E27FC236}">
                <a16:creationId xmlns:a16="http://schemas.microsoft.com/office/drawing/2014/main" id="{3B344B52-678A-6ED5-7649-5A29622C2F3E}"/>
              </a:ext>
            </a:extLst>
          </p:cNvPr>
          <p:cNvSpPr/>
          <p:nvPr/>
        </p:nvSpPr>
        <p:spPr>
          <a:xfrm rot="5400000">
            <a:off x="16369" y="101765"/>
            <a:ext cx="901896" cy="698366"/>
          </a:xfrm>
          <a:prstGeom prst="homePlate">
            <a:avLst>
              <a:gd name="adj" fmla="val 22381"/>
            </a:avLst>
          </a:prstGeom>
          <a:solidFill>
            <a:srgbClr val="1CBA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4" name="Рисунок 13">
            <a:extLst>
              <a:ext uri="{FF2B5EF4-FFF2-40B4-BE49-F238E27FC236}">
                <a16:creationId xmlns:a16="http://schemas.microsoft.com/office/drawing/2014/main" id="{7979D8D9-ECBB-5112-1CE6-666A8DDBCDBA}"/>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70541" y="276220"/>
            <a:ext cx="593734" cy="305513"/>
          </a:xfrm>
          <a:prstGeom prst="rect">
            <a:avLst/>
          </a:prstGeom>
        </p:spPr>
      </p:pic>
      <p:sp>
        <p:nvSpPr>
          <p:cNvPr id="7" name="Заголовок 6">
            <a:extLst>
              <a:ext uri="{FF2B5EF4-FFF2-40B4-BE49-F238E27FC236}">
                <a16:creationId xmlns:a16="http://schemas.microsoft.com/office/drawing/2014/main" id="{1FF13A30-3EE2-CBF2-253B-D725CB2E2552}"/>
              </a:ext>
            </a:extLst>
          </p:cNvPr>
          <p:cNvSpPr>
            <a:spLocks noGrp="1"/>
          </p:cNvSpPr>
          <p:nvPr>
            <p:ph type="title"/>
          </p:nvPr>
        </p:nvSpPr>
        <p:spPr>
          <a:xfrm>
            <a:off x="240673" y="59887"/>
            <a:ext cx="3311525" cy="369332"/>
          </a:xfrm>
        </p:spPr>
        <p:txBody>
          <a:bodyPr>
            <a:spAutoFit/>
          </a:bodyPr>
          <a:lstStyle/>
          <a:p>
            <a:pPr algn="ctr" eaLnBrk="1" hangingPunct="1">
              <a:spcAft>
                <a:spcPts val="0"/>
              </a:spcAft>
              <a:defRPr/>
            </a:pP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20</a:t>
            </a:r>
            <a:r>
              <a:rPr lang="uk-UA"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2</a:t>
            </a:r>
            <a:r>
              <a:rPr lang="ru-RU" sz="2000" b="1"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6</a:t>
            </a: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 </a:t>
            </a:r>
            <a:r>
              <a:rPr lang="en-US" sz="2000" b="1"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IEEE </a:t>
            </a: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SIST</a:t>
            </a:r>
            <a:endParaRPr lang="uk-UA" sz="20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endParaRPr>
          </a:p>
        </p:txBody>
      </p:sp>
      <p:pic>
        <p:nvPicPr>
          <p:cNvPr id="28" name="Рисунок 27">
            <a:extLst>
              <a:ext uri="{FF2B5EF4-FFF2-40B4-BE49-F238E27FC236}">
                <a16:creationId xmlns:a16="http://schemas.microsoft.com/office/drawing/2014/main" id="{5573DBD3-2C98-1C7E-DB20-BA7B93BCA60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839663" y="-2906"/>
            <a:ext cx="1304337" cy="796656"/>
          </a:xfrm>
          <a:prstGeom prst="rect">
            <a:avLst/>
          </a:prstGeom>
        </p:spPr>
      </p:pic>
      <p:sp>
        <p:nvSpPr>
          <p:cNvPr id="27" name="Прямоугольник 26">
            <a:extLst>
              <a:ext uri="{FF2B5EF4-FFF2-40B4-BE49-F238E27FC236}">
                <a16:creationId xmlns:a16="http://schemas.microsoft.com/office/drawing/2014/main" id="{03F136C4-A1A1-A519-DEE8-B11EB3117263}"/>
              </a:ext>
            </a:extLst>
          </p:cNvPr>
          <p:cNvSpPr/>
          <p:nvPr/>
        </p:nvSpPr>
        <p:spPr>
          <a:xfrm>
            <a:off x="0" y="6146441"/>
            <a:ext cx="9149715" cy="725570"/>
          </a:xfrm>
          <a:prstGeom prst="rect">
            <a:avLst/>
          </a:prstGeom>
          <a:gradFill flip="none" rotWithShape="1">
            <a:gsLst>
              <a:gs pos="35000">
                <a:srgbClr val="36ACD8"/>
              </a:gs>
              <a:gs pos="78000">
                <a:srgbClr val="2E6CA4"/>
              </a:gs>
              <a:gs pos="100000">
                <a:srgbClr val="2E76A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p>
        </p:txBody>
      </p:sp>
      <p:pic>
        <p:nvPicPr>
          <p:cNvPr id="2" name="Picture 7" descr="A blue text on a black background&#10;&#10;Description automatically generated">
            <a:extLst>
              <a:ext uri="{FF2B5EF4-FFF2-40B4-BE49-F238E27FC236}">
                <a16:creationId xmlns:a16="http://schemas.microsoft.com/office/drawing/2014/main" id="{7F5DE461-5725-5229-ACA9-523918E2B22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296263" y="6342108"/>
            <a:ext cx="1076787" cy="387872"/>
          </a:xfrm>
          <a:prstGeom prst="rect">
            <a:avLst/>
          </a:prstGeom>
        </p:spPr>
      </p:pic>
      <p:pic>
        <p:nvPicPr>
          <p:cNvPr id="3" name="Рисунок 2" descr="Изображение выглядит как Шрифт, Графика, текст, круг&#10;&#10;Автоматически созданное описание">
            <a:extLst>
              <a:ext uri="{FF2B5EF4-FFF2-40B4-BE49-F238E27FC236}">
                <a16:creationId xmlns:a16="http://schemas.microsoft.com/office/drawing/2014/main" id="{6E53E079-9CAF-63D2-BCCB-20FB6120B94D}"/>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020678" y="6334640"/>
            <a:ext cx="784691" cy="402808"/>
          </a:xfrm>
          <a:prstGeom prst="rect">
            <a:avLst/>
          </a:prstGeom>
        </p:spPr>
      </p:pic>
      <p:pic>
        <p:nvPicPr>
          <p:cNvPr id="4" name="Рисунок 3">
            <a:extLst>
              <a:ext uri="{FF2B5EF4-FFF2-40B4-BE49-F238E27FC236}">
                <a16:creationId xmlns:a16="http://schemas.microsoft.com/office/drawing/2014/main" id="{435FD4B7-2692-6EBF-8FD7-D1B7CD760050}"/>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24003" y="6273572"/>
            <a:ext cx="1174783" cy="471307"/>
          </a:xfrm>
          <a:prstGeom prst="rect">
            <a:avLst/>
          </a:prstGeom>
          <a:noFill/>
          <a:ln>
            <a:noFill/>
          </a:ln>
        </p:spPr>
      </p:pic>
      <p:pic>
        <p:nvPicPr>
          <p:cNvPr id="5" name="Рисунок 4">
            <a:extLst>
              <a:ext uri="{FF2B5EF4-FFF2-40B4-BE49-F238E27FC236}">
                <a16:creationId xmlns:a16="http://schemas.microsoft.com/office/drawing/2014/main" id="{F5A91954-638C-D69F-BDCF-014AE71B1E2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44140" y="6259474"/>
            <a:ext cx="412394" cy="538174"/>
          </a:xfrm>
          <a:prstGeom prst="rect">
            <a:avLst/>
          </a:prstGeom>
        </p:spPr>
      </p:pic>
      <p:pic>
        <p:nvPicPr>
          <p:cNvPr id="6" name="Рисунок 5">
            <a:extLst>
              <a:ext uri="{FF2B5EF4-FFF2-40B4-BE49-F238E27FC236}">
                <a16:creationId xmlns:a16="http://schemas.microsoft.com/office/drawing/2014/main" id="{F7CB50A7-0960-B71C-97E0-5B6F25D61B2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18404" y="6273572"/>
            <a:ext cx="1060923" cy="509978"/>
          </a:xfrm>
          <a:prstGeom prst="rect">
            <a:avLst/>
          </a:prstGeom>
        </p:spPr>
      </p:pic>
      <p:pic>
        <p:nvPicPr>
          <p:cNvPr id="8" name="Рисунок 7">
            <a:extLst>
              <a:ext uri="{FF2B5EF4-FFF2-40B4-BE49-F238E27FC236}">
                <a16:creationId xmlns:a16="http://schemas.microsoft.com/office/drawing/2014/main" id="{3667D069-AF17-F903-D7CB-03055E9B2D4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5919" y="6285329"/>
            <a:ext cx="1007689" cy="471307"/>
          </a:xfrm>
          <a:prstGeom prst="rect">
            <a:avLst/>
          </a:prstGeom>
        </p:spPr>
      </p:pic>
      <p:pic>
        <p:nvPicPr>
          <p:cNvPr id="9" name="Рисунок 8">
            <a:extLst>
              <a:ext uri="{FF2B5EF4-FFF2-40B4-BE49-F238E27FC236}">
                <a16:creationId xmlns:a16="http://schemas.microsoft.com/office/drawing/2014/main" id="{0C4A4DFF-AE59-0BC5-7727-8567F22C3EF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324586" y="6315453"/>
            <a:ext cx="493286" cy="441183"/>
          </a:xfrm>
          <a:prstGeom prst="rect">
            <a:avLst/>
          </a:prstGeom>
        </p:spPr>
      </p:pic>
      <p:sp>
        <p:nvSpPr>
          <p:cNvPr id="15" name="PlaceHolder 2">
            <a:extLst>
              <a:ext uri="{FF2B5EF4-FFF2-40B4-BE49-F238E27FC236}">
                <a16:creationId xmlns:a16="http://schemas.microsoft.com/office/drawing/2014/main" id="{B56696C9-3DAD-4EFD-14D4-56726910C9E4}"/>
              </a:ext>
            </a:extLst>
          </p:cNvPr>
          <p:cNvSpPr txBox="1">
            <a:spLocks/>
          </p:cNvSpPr>
          <p:nvPr/>
        </p:nvSpPr>
        <p:spPr>
          <a:xfrm>
            <a:off x="123480" y="1772816"/>
            <a:ext cx="4676400" cy="3384376"/>
          </a:xfrm>
          <a:prstGeom prst="rect">
            <a:avLst/>
          </a:prstGeom>
          <a:noFill/>
          <a:ln w="0">
            <a:noFill/>
          </a:ln>
        </p:spPr>
        <p:txBody>
          <a:bodyPr vert="horz" lIns="91440" tIns="45720" rIns="91440" bIns="45720" rtlCol="0" anchor="t">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171360">
              <a:spcBef>
                <a:spcPts val="751"/>
              </a:spcBef>
              <a:tabLst>
                <a:tab pos="0" algn="l"/>
              </a:tabLst>
            </a:pPr>
            <a:r>
              <a:rPr lang="en-US" sz="2100" dirty="0">
                <a:solidFill>
                  <a:schemeClr val="dk1"/>
                </a:solidFill>
                <a:latin typeface="Calibri"/>
              </a:rPr>
              <a:t>Theoretical methodology</a:t>
            </a:r>
            <a:endParaRPr lang="en-US" sz="2100" dirty="0">
              <a:solidFill>
                <a:srgbClr val="000000"/>
              </a:solidFill>
              <a:latin typeface="Arial"/>
            </a:endParaRPr>
          </a:p>
          <a:p>
            <a:pPr marL="864000" lvl="1" indent="-324000" algn="just" defTabSz="685800">
              <a:lnSpc>
                <a:spcPct val="90000"/>
              </a:lnSpc>
              <a:spcBef>
                <a:spcPts val="1191"/>
              </a:spcBef>
              <a:spcAft>
                <a:spcPts val="992"/>
              </a:spcAft>
              <a:buClr>
                <a:srgbClr val="000000"/>
              </a:buClr>
              <a:buSzPct val="75000"/>
              <a:buFont typeface="Symbol" charset="2"/>
              <a:buChar char=""/>
              <a:tabLst>
                <a:tab pos="0" algn="l"/>
              </a:tabLst>
            </a:pPr>
            <a:r>
              <a:rPr lang="en-US" sz="1500" kern="0" dirty="0">
                <a:solidFill>
                  <a:schemeClr val="dk1"/>
                </a:solidFill>
                <a:latin typeface="Calibri"/>
                <a:ea typeface="DejaVu Sans"/>
              </a:rPr>
              <a:t>As illustrated in Figure 5, we propose a paradigm shift by redirecting the purpose of existing solutions of malware analysis toward regular developers to gain in-depth insights of potential threats. This form of software examination is attended within isolated execution environments as preventive mechanism and continuous security lifecycle for any component in IT infrastructure. </a:t>
            </a:r>
            <a:endParaRPr lang="en-US" sz="1500" kern="0" dirty="0">
              <a:solidFill>
                <a:srgbClr val="000000"/>
              </a:solidFill>
              <a:latin typeface="Arial"/>
            </a:endParaRPr>
          </a:p>
          <a:p>
            <a:pPr marL="864000" lvl="1" indent="-324000" algn="just" defTabSz="685800">
              <a:lnSpc>
                <a:spcPct val="90000"/>
              </a:lnSpc>
              <a:spcBef>
                <a:spcPts val="1191"/>
              </a:spcBef>
              <a:spcAft>
                <a:spcPts val="992"/>
              </a:spcAft>
              <a:buClr>
                <a:srgbClr val="000000"/>
              </a:buClr>
              <a:buSzPct val="75000"/>
              <a:buFont typeface="Symbol" charset="2"/>
              <a:buChar char=""/>
              <a:tabLst>
                <a:tab pos="0" algn="l"/>
              </a:tabLst>
            </a:pPr>
            <a:r>
              <a:rPr lang="en-US" sz="1500" kern="0" dirty="0">
                <a:solidFill>
                  <a:schemeClr val="dk1"/>
                </a:solidFill>
                <a:latin typeface="Calibri"/>
                <a:ea typeface="DejaVu Sans"/>
              </a:rPr>
              <a:t>It is only a theoretical concept without strict details on technical aspects to be technology-agnostic and portable to other ecosystems.</a:t>
            </a:r>
            <a:endParaRPr lang="en-US" sz="1500" kern="0" dirty="0">
              <a:solidFill>
                <a:srgbClr val="000000"/>
              </a:solidFill>
              <a:latin typeface="Arial"/>
            </a:endParaRPr>
          </a:p>
        </p:txBody>
      </p:sp>
      <p:pic>
        <p:nvPicPr>
          <p:cNvPr id="16" name="Picture 15">
            <a:extLst>
              <a:ext uri="{FF2B5EF4-FFF2-40B4-BE49-F238E27FC236}">
                <a16:creationId xmlns:a16="http://schemas.microsoft.com/office/drawing/2014/main" id="{01A66703-EC27-ADDD-6829-842DB587DD61}"/>
              </a:ext>
            </a:extLst>
          </p:cNvPr>
          <p:cNvPicPr/>
          <p:nvPr/>
        </p:nvPicPr>
        <p:blipFill>
          <a:blip r:embed="rId11"/>
          <a:stretch/>
        </p:blipFill>
        <p:spPr>
          <a:xfrm>
            <a:off x="5049720" y="1756800"/>
            <a:ext cx="3819960" cy="2357280"/>
          </a:xfrm>
          <a:prstGeom prst="rect">
            <a:avLst/>
          </a:prstGeom>
          <a:noFill/>
          <a:ln w="0">
            <a:noFill/>
          </a:ln>
        </p:spPr>
      </p:pic>
      <p:sp>
        <p:nvSpPr>
          <p:cNvPr id="17" name="Rectangle 16">
            <a:extLst>
              <a:ext uri="{FF2B5EF4-FFF2-40B4-BE49-F238E27FC236}">
                <a16:creationId xmlns:a16="http://schemas.microsoft.com/office/drawing/2014/main" id="{E2252021-9CF1-622A-5CAB-F9CA33F716D1}"/>
              </a:ext>
            </a:extLst>
          </p:cNvPr>
          <p:cNvSpPr/>
          <p:nvPr/>
        </p:nvSpPr>
        <p:spPr>
          <a:xfrm>
            <a:off x="5029560" y="4219560"/>
            <a:ext cx="3885120" cy="1004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en-US" sz="1200" b="0" u="none" strike="noStrike">
                <a:solidFill>
                  <a:srgbClr val="000000"/>
                </a:solidFill>
                <a:effectLst/>
                <a:uFillTx/>
                <a:latin typeface="Arial"/>
              </a:rPr>
              <a:t>Figure 5: Transition to cycle of continuous security (SOC - security operations center; MSSP - managed security service provider): (1) Passive analysis with sandboxes and honeypots. (2) Reactive analysis with digital twins of IT infrastructures with AI agents.</a:t>
            </a:r>
          </a:p>
        </p:txBody>
      </p:sp>
    </p:spTree>
    <p:extLst>
      <p:ext uri="{BB962C8B-B14F-4D97-AF65-F5344CB8AC3E}">
        <p14:creationId xmlns:p14="http://schemas.microsoft.com/office/powerpoint/2010/main" val="1917240807"/>
      </p:ext>
    </p:extLst>
  </p:cSld>
  <p:clrMapOvr>
    <a:masterClrMapping/>
  </p:clrMapOvr>
  <p:transition spd="slow" advTm="70039"/>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87CAE-3D95-3F20-87CB-1F65447871D0}"/>
            </a:ext>
          </a:extLst>
        </p:cNvPr>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E54CB258-F6EF-BAA7-4CFC-20972DF88CF9}"/>
              </a:ext>
            </a:extLst>
          </p:cNvPr>
          <p:cNvSpPr/>
          <p:nvPr/>
        </p:nvSpPr>
        <p:spPr>
          <a:xfrm>
            <a:off x="-5715" y="-66"/>
            <a:ext cx="9149715" cy="725570"/>
          </a:xfrm>
          <a:prstGeom prst="rect">
            <a:avLst/>
          </a:prstGeom>
          <a:gradFill flip="none" rotWithShape="1">
            <a:gsLst>
              <a:gs pos="35000">
                <a:srgbClr val="36ACD8"/>
              </a:gs>
              <a:gs pos="78000">
                <a:srgbClr val="2E6CA4"/>
              </a:gs>
              <a:gs pos="100000">
                <a:srgbClr val="2E76A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Прямоугольник 11">
            <a:extLst>
              <a:ext uri="{FF2B5EF4-FFF2-40B4-BE49-F238E27FC236}">
                <a16:creationId xmlns:a16="http://schemas.microsoft.com/office/drawing/2014/main" id="{2EE9C4D5-BC58-2C38-8D1D-CCB936F4E5B2}"/>
              </a:ext>
            </a:extLst>
          </p:cNvPr>
          <p:cNvSpPr/>
          <p:nvPr/>
        </p:nvSpPr>
        <p:spPr>
          <a:xfrm>
            <a:off x="8604448" y="-2906"/>
            <a:ext cx="206809" cy="79665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13" name="Пятиугольник 84">
            <a:extLst>
              <a:ext uri="{FF2B5EF4-FFF2-40B4-BE49-F238E27FC236}">
                <a16:creationId xmlns:a16="http://schemas.microsoft.com/office/drawing/2014/main" id="{C9D6A0E9-FD25-32D1-49A4-5DA70D70400F}"/>
              </a:ext>
            </a:extLst>
          </p:cNvPr>
          <p:cNvSpPr/>
          <p:nvPr/>
        </p:nvSpPr>
        <p:spPr>
          <a:xfrm rot="5400000">
            <a:off x="16369" y="101765"/>
            <a:ext cx="901896" cy="698366"/>
          </a:xfrm>
          <a:prstGeom prst="homePlate">
            <a:avLst>
              <a:gd name="adj" fmla="val 22381"/>
            </a:avLst>
          </a:prstGeom>
          <a:solidFill>
            <a:srgbClr val="1CBA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4" name="Рисунок 13">
            <a:extLst>
              <a:ext uri="{FF2B5EF4-FFF2-40B4-BE49-F238E27FC236}">
                <a16:creationId xmlns:a16="http://schemas.microsoft.com/office/drawing/2014/main" id="{4FBF6ACD-69FD-4699-590B-796B2CF029B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70541" y="276220"/>
            <a:ext cx="593734" cy="305513"/>
          </a:xfrm>
          <a:prstGeom prst="rect">
            <a:avLst/>
          </a:prstGeom>
        </p:spPr>
      </p:pic>
      <p:sp>
        <p:nvSpPr>
          <p:cNvPr id="7" name="Заголовок 6">
            <a:extLst>
              <a:ext uri="{FF2B5EF4-FFF2-40B4-BE49-F238E27FC236}">
                <a16:creationId xmlns:a16="http://schemas.microsoft.com/office/drawing/2014/main" id="{6684CC11-65AC-2E45-D6B2-92F6B49240B3}"/>
              </a:ext>
            </a:extLst>
          </p:cNvPr>
          <p:cNvSpPr>
            <a:spLocks noGrp="1"/>
          </p:cNvSpPr>
          <p:nvPr>
            <p:ph type="title"/>
          </p:nvPr>
        </p:nvSpPr>
        <p:spPr>
          <a:xfrm>
            <a:off x="240673" y="59887"/>
            <a:ext cx="3311525" cy="369332"/>
          </a:xfrm>
        </p:spPr>
        <p:txBody>
          <a:bodyPr>
            <a:spAutoFit/>
          </a:bodyPr>
          <a:lstStyle/>
          <a:p>
            <a:pPr algn="ctr" eaLnBrk="1" hangingPunct="1">
              <a:spcAft>
                <a:spcPts val="0"/>
              </a:spcAft>
              <a:defRPr/>
            </a:pP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20</a:t>
            </a:r>
            <a:r>
              <a:rPr lang="uk-UA"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2</a:t>
            </a:r>
            <a:r>
              <a:rPr lang="ru-RU" sz="2000" b="1"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6</a:t>
            </a: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 </a:t>
            </a:r>
            <a:r>
              <a:rPr lang="en-US" sz="2000" b="1"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IEEE </a:t>
            </a: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SIST</a:t>
            </a:r>
            <a:endParaRPr lang="uk-UA" sz="20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endParaRPr>
          </a:p>
        </p:txBody>
      </p:sp>
      <p:pic>
        <p:nvPicPr>
          <p:cNvPr id="28" name="Рисунок 27">
            <a:extLst>
              <a:ext uri="{FF2B5EF4-FFF2-40B4-BE49-F238E27FC236}">
                <a16:creationId xmlns:a16="http://schemas.microsoft.com/office/drawing/2014/main" id="{6699CD7A-D2D5-ABE5-59DB-6F9B0432465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839663" y="-2906"/>
            <a:ext cx="1304337" cy="796656"/>
          </a:xfrm>
          <a:prstGeom prst="rect">
            <a:avLst/>
          </a:prstGeom>
        </p:spPr>
      </p:pic>
      <p:sp>
        <p:nvSpPr>
          <p:cNvPr id="27" name="Прямоугольник 26">
            <a:extLst>
              <a:ext uri="{FF2B5EF4-FFF2-40B4-BE49-F238E27FC236}">
                <a16:creationId xmlns:a16="http://schemas.microsoft.com/office/drawing/2014/main" id="{071EB7E9-CD43-86BB-1B01-8BD1E239EE2A}"/>
              </a:ext>
            </a:extLst>
          </p:cNvPr>
          <p:cNvSpPr/>
          <p:nvPr/>
        </p:nvSpPr>
        <p:spPr>
          <a:xfrm>
            <a:off x="0" y="6146441"/>
            <a:ext cx="9149715" cy="725570"/>
          </a:xfrm>
          <a:prstGeom prst="rect">
            <a:avLst/>
          </a:prstGeom>
          <a:gradFill flip="none" rotWithShape="1">
            <a:gsLst>
              <a:gs pos="35000">
                <a:srgbClr val="36ACD8"/>
              </a:gs>
              <a:gs pos="78000">
                <a:srgbClr val="2E6CA4"/>
              </a:gs>
              <a:gs pos="100000">
                <a:srgbClr val="2E76A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p>
        </p:txBody>
      </p:sp>
      <p:pic>
        <p:nvPicPr>
          <p:cNvPr id="2" name="Picture 7" descr="A blue text on a black background&#10;&#10;Description automatically generated">
            <a:extLst>
              <a:ext uri="{FF2B5EF4-FFF2-40B4-BE49-F238E27FC236}">
                <a16:creationId xmlns:a16="http://schemas.microsoft.com/office/drawing/2014/main" id="{197F697C-56BD-03F2-FB07-A3C137FE20B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296263" y="6342108"/>
            <a:ext cx="1076787" cy="387872"/>
          </a:xfrm>
          <a:prstGeom prst="rect">
            <a:avLst/>
          </a:prstGeom>
        </p:spPr>
      </p:pic>
      <p:pic>
        <p:nvPicPr>
          <p:cNvPr id="3" name="Рисунок 2" descr="Изображение выглядит как Шрифт, Графика, текст, круг&#10;&#10;Автоматически созданное описание">
            <a:extLst>
              <a:ext uri="{FF2B5EF4-FFF2-40B4-BE49-F238E27FC236}">
                <a16:creationId xmlns:a16="http://schemas.microsoft.com/office/drawing/2014/main" id="{6AFC11D4-676F-02B9-AF18-6A3D2E0AC29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020678" y="6334640"/>
            <a:ext cx="784691" cy="402808"/>
          </a:xfrm>
          <a:prstGeom prst="rect">
            <a:avLst/>
          </a:prstGeom>
        </p:spPr>
      </p:pic>
      <p:pic>
        <p:nvPicPr>
          <p:cNvPr id="4" name="Рисунок 3">
            <a:extLst>
              <a:ext uri="{FF2B5EF4-FFF2-40B4-BE49-F238E27FC236}">
                <a16:creationId xmlns:a16="http://schemas.microsoft.com/office/drawing/2014/main" id="{F02F6D59-2D4F-BAEA-E454-47236DF194A2}"/>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24003" y="6273572"/>
            <a:ext cx="1174783" cy="471307"/>
          </a:xfrm>
          <a:prstGeom prst="rect">
            <a:avLst/>
          </a:prstGeom>
          <a:noFill/>
          <a:ln>
            <a:noFill/>
          </a:ln>
        </p:spPr>
      </p:pic>
      <p:pic>
        <p:nvPicPr>
          <p:cNvPr id="5" name="Рисунок 4">
            <a:extLst>
              <a:ext uri="{FF2B5EF4-FFF2-40B4-BE49-F238E27FC236}">
                <a16:creationId xmlns:a16="http://schemas.microsoft.com/office/drawing/2014/main" id="{60E31E51-D631-18AE-A3A2-778714D07FD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44140" y="6259474"/>
            <a:ext cx="412394" cy="538174"/>
          </a:xfrm>
          <a:prstGeom prst="rect">
            <a:avLst/>
          </a:prstGeom>
        </p:spPr>
      </p:pic>
      <p:pic>
        <p:nvPicPr>
          <p:cNvPr id="6" name="Рисунок 5">
            <a:extLst>
              <a:ext uri="{FF2B5EF4-FFF2-40B4-BE49-F238E27FC236}">
                <a16:creationId xmlns:a16="http://schemas.microsoft.com/office/drawing/2014/main" id="{C8FB6CDF-ACE9-3DA7-BEA5-604EE43D004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18404" y="6273572"/>
            <a:ext cx="1060923" cy="509978"/>
          </a:xfrm>
          <a:prstGeom prst="rect">
            <a:avLst/>
          </a:prstGeom>
        </p:spPr>
      </p:pic>
      <p:pic>
        <p:nvPicPr>
          <p:cNvPr id="8" name="Рисунок 7">
            <a:extLst>
              <a:ext uri="{FF2B5EF4-FFF2-40B4-BE49-F238E27FC236}">
                <a16:creationId xmlns:a16="http://schemas.microsoft.com/office/drawing/2014/main" id="{FDB0DE22-491B-7EE6-C802-5D69A3CE78C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5919" y="6285329"/>
            <a:ext cx="1007689" cy="471307"/>
          </a:xfrm>
          <a:prstGeom prst="rect">
            <a:avLst/>
          </a:prstGeom>
        </p:spPr>
      </p:pic>
      <p:pic>
        <p:nvPicPr>
          <p:cNvPr id="9" name="Рисунок 8">
            <a:extLst>
              <a:ext uri="{FF2B5EF4-FFF2-40B4-BE49-F238E27FC236}">
                <a16:creationId xmlns:a16="http://schemas.microsoft.com/office/drawing/2014/main" id="{55477632-EE10-6A20-FA50-7F9828F34A7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324586" y="6315453"/>
            <a:ext cx="493286" cy="441183"/>
          </a:xfrm>
          <a:prstGeom prst="rect">
            <a:avLst/>
          </a:prstGeom>
        </p:spPr>
      </p:pic>
      <p:sp>
        <p:nvSpPr>
          <p:cNvPr id="15" name="PlaceHolder 2">
            <a:extLst>
              <a:ext uri="{FF2B5EF4-FFF2-40B4-BE49-F238E27FC236}">
                <a16:creationId xmlns:a16="http://schemas.microsoft.com/office/drawing/2014/main" id="{44B06D3A-6DA4-6E18-8332-DC216A2FA614}"/>
              </a:ext>
            </a:extLst>
          </p:cNvPr>
          <p:cNvSpPr txBox="1">
            <a:spLocks/>
          </p:cNvSpPr>
          <p:nvPr/>
        </p:nvSpPr>
        <p:spPr>
          <a:xfrm>
            <a:off x="216000" y="1076728"/>
            <a:ext cx="8614440" cy="2064240"/>
          </a:xfrm>
          <a:prstGeom prst="rect">
            <a:avLst/>
          </a:prstGeom>
          <a:noFill/>
          <a:ln w="0">
            <a:noFill/>
          </a:ln>
        </p:spPr>
        <p:txBody>
          <a:bodyPr vert="horz" lIns="91440" tIns="45720" rIns="91440" bIns="45720" rtlCol="0" anchor="t">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171360">
              <a:spcBef>
                <a:spcPts val="751"/>
              </a:spcBef>
              <a:tabLst>
                <a:tab pos="0" algn="l"/>
              </a:tabLst>
            </a:pPr>
            <a:r>
              <a:rPr lang="en-US" sz="2100" dirty="0">
                <a:solidFill>
                  <a:schemeClr val="dk1"/>
                </a:solidFill>
                <a:latin typeface="Calibri"/>
              </a:rPr>
              <a:t>Applying conceptual methodology to </a:t>
            </a:r>
            <a:r>
              <a:rPr lang="en-US" sz="2100" dirty="0" err="1">
                <a:solidFill>
                  <a:schemeClr val="dk1"/>
                </a:solidFill>
                <a:latin typeface="Calibri"/>
              </a:rPr>
              <a:t>PyPI</a:t>
            </a:r>
            <a:r>
              <a:rPr lang="en-US" sz="2100" dirty="0">
                <a:solidFill>
                  <a:schemeClr val="dk1"/>
                </a:solidFill>
                <a:latin typeface="Calibri"/>
              </a:rPr>
              <a:t> platform</a:t>
            </a:r>
            <a:endParaRPr lang="en-US" sz="2100" dirty="0">
              <a:solidFill>
                <a:srgbClr val="000000"/>
              </a:solidFill>
              <a:latin typeface="Arial"/>
            </a:endParaRPr>
          </a:p>
          <a:p>
            <a:pPr marL="864000" lvl="1" indent="-324000" algn="just" defTabSz="685800">
              <a:lnSpc>
                <a:spcPct val="90000"/>
              </a:lnSpc>
              <a:spcBef>
                <a:spcPts val="1134"/>
              </a:spcBef>
              <a:buClr>
                <a:srgbClr val="000000"/>
              </a:buClr>
              <a:buSzPct val="75000"/>
              <a:buFont typeface="Symbol" charset="2"/>
              <a:buChar char=""/>
              <a:tabLst>
                <a:tab pos="0" algn="l"/>
              </a:tabLst>
            </a:pPr>
            <a:r>
              <a:rPr lang="en-US" sz="1500" kern="0" dirty="0">
                <a:solidFill>
                  <a:schemeClr val="dk1"/>
                </a:solidFill>
                <a:latin typeface="Calibri"/>
              </a:rPr>
              <a:t>Components within the analysis engine:</a:t>
            </a:r>
            <a:endParaRPr lang="en-US" sz="1500" kern="0" dirty="0">
              <a:solidFill>
                <a:srgbClr val="000000"/>
              </a:solidFill>
              <a:latin typeface="Arial"/>
            </a:endParaRPr>
          </a:p>
          <a:p>
            <a:pPr marL="1296000" lvl="2" indent="-288000" algn="just" defTabSz="685800">
              <a:lnSpc>
                <a:spcPct val="90000"/>
              </a:lnSpc>
              <a:spcBef>
                <a:spcPts val="850"/>
              </a:spcBef>
              <a:buClr>
                <a:srgbClr val="000000"/>
              </a:buClr>
              <a:buSzPct val="45000"/>
              <a:buFont typeface="Wingdings" charset="2"/>
              <a:buChar char=""/>
              <a:tabLst>
                <a:tab pos="0" algn="l"/>
              </a:tabLst>
            </a:pPr>
            <a:r>
              <a:rPr lang="en-US" sz="1200" kern="0" dirty="0">
                <a:solidFill>
                  <a:schemeClr val="dk1"/>
                </a:solidFill>
                <a:latin typeface="Calibri"/>
              </a:rPr>
              <a:t>developed for specific use cases related to software packages, container images, computer networks, and other parts of the IT infrastructure, as demonstrated for in Figure 6 and 7.</a:t>
            </a:r>
            <a:endParaRPr lang="en-US" sz="1200" kern="0" dirty="0">
              <a:solidFill>
                <a:srgbClr val="000000"/>
              </a:solidFill>
              <a:latin typeface="Arial"/>
            </a:endParaRPr>
          </a:p>
          <a:p>
            <a:pPr marL="1296000" lvl="2" indent="-288000" algn="just" defTabSz="685800">
              <a:lnSpc>
                <a:spcPct val="90000"/>
              </a:lnSpc>
              <a:spcBef>
                <a:spcPts val="850"/>
              </a:spcBef>
              <a:buClr>
                <a:srgbClr val="000000"/>
              </a:buClr>
              <a:buSzPct val="45000"/>
              <a:buFont typeface="Wingdings" charset="2"/>
              <a:buChar char=""/>
              <a:tabLst>
                <a:tab pos="0" algn="l"/>
              </a:tabLst>
            </a:pPr>
            <a:r>
              <a:rPr lang="en-US" sz="1200" kern="0" dirty="0">
                <a:solidFill>
                  <a:schemeClr val="dk1"/>
                </a:solidFill>
                <a:latin typeface="Calibri"/>
              </a:rPr>
              <a:t>can be implemented differently but must intercommunicate via JSON-RPC 2.0, and interfaces describe their actions and roles operating around the abstraction of ”task”</a:t>
            </a:r>
            <a:endParaRPr lang="en-US" sz="1200" kern="0" dirty="0">
              <a:solidFill>
                <a:srgbClr val="000000"/>
              </a:solidFill>
              <a:latin typeface="Arial"/>
            </a:endParaRPr>
          </a:p>
          <a:p>
            <a:pPr marL="1296000" lvl="2" indent="-288000" algn="just" defTabSz="685800">
              <a:lnSpc>
                <a:spcPct val="90000"/>
              </a:lnSpc>
              <a:spcBef>
                <a:spcPts val="850"/>
              </a:spcBef>
              <a:buClr>
                <a:srgbClr val="000000"/>
              </a:buClr>
              <a:buSzPct val="45000"/>
              <a:buFont typeface="Wingdings" charset="2"/>
              <a:buChar char=""/>
              <a:tabLst>
                <a:tab pos="0" algn="l"/>
              </a:tabLst>
            </a:pPr>
            <a:r>
              <a:rPr lang="en-US" sz="1200" kern="0" dirty="0">
                <a:solidFill>
                  <a:schemeClr val="dk1"/>
                </a:solidFill>
                <a:latin typeface="Calibri"/>
                <a:ea typeface="DejaVu Sans"/>
              </a:rPr>
              <a:t>default components interfaces: Orchestrator, </a:t>
            </a:r>
            <a:r>
              <a:rPr lang="en-US" sz="1200" kern="0" dirty="0" err="1">
                <a:solidFill>
                  <a:schemeClr val="dk1"/>
                </a:solidFill>
                <a:latin typeface="Calibri"/>
                <a:ea typeface="DejaVu Sans"/>
              </a:rPr>
              <a:t>Instancer</a:t>
            </a:r>
            <a:r>
              <a:rPr lang="en-US" sz="1200" kern="0" dirty="0">
                <a:solidFill>
                  <a:schemeClr val="dk1"/>
                </a:solidFill>
                <a:latin typeface="Calibri"/>
                <a:ea typeface="DejaVu Sans"/>
              </a:rPr>
              <a:t>, Collector, Interactor, Parser, and Analyzer.</a:t>
            </a:r>
            <a:endParaRPr lang="en-US" sz="1200" kern="0" dirty="0">
              <a:solidFill>
                <a:srgbClr val="000000"/>
              </a:solidFill>
              <a:latin typeface="Arial"/>
            </a:endParaRPr>
          </a:p>
        </p:txBody>
      </p:sp>
      <p:sp>
        <p:nvSpPr>
          <p:cNvPr id="16" name="Rectangle 15">
            <a:extLst>
              <a:ext uri="{FF2B5EF4-FFF2-40B4-BE49-F238E27FC236}">
                <a16:creationId xmlns:a16="http://schemas.microsoft.com/office/drawing/2014/main" id="{D74428EE-2B5B-2565-504F-057A44D257A6}"/>
              </a:ext>
            </a:extLst>
          </p:cNvPr>
          <p:cNvSpPr/>
          <p:nvPr/>
        </p:nvSpPr>
        <p:spPr>
          <a:xfrm>
            <a:off x="1564200" y="5524200"/>
            <a:ext cx="620784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200" b="0" u="none" strike="noStrike">
                <a:solidFill>
                  <a:srgbClr val="000000"/>
                </a:solidFill>
                <a:effectLst/>
                <a:uFillTx/>
                <a:latin typeface="Arial"/>
                <a:ea typeface="DejaVu Sans"/>
              </a:rPr>
              <a:t>Figure 6 and 7: Secure software pipeline by integrating the proposed</a:t>
            </a:r>
            <a:endParaRPr lang="en-US" sz="1200" b="0" u="none" strike="noStrike">
              <a:solidFill>
                <a:srgbClr val="000000"/>
              </a:solidFill>
              <a:effectLst/>
              <a:uFillTx/>
              <a:latin typeface="Arial"/>
            </a:endParaRPr>
          </a:p>
          <a:p>
            <a:pPr algn="ctr">
              <a:lnSpc>
                <a:spcPct val="100000"/>
              </a:lnSpc>
            </a:pPr>
            <a:r>
              <a:rPr lang="en-US" sz="1200" b="0" u="none" strike="noStrike">
                <a:solidFill>
                  <a:srgbClr val="000000"/>
                </a:solidFill>
                <a:effectLst/>
                <a:uFillTx/>
                <a:latin typeface="Arial"/>
                <a:ea typeface="DejaVu Sans"/>
              </a:rPr>
              <a:t>analysis platform to PyPI (Python packages distribution platform).</a:t>
            </a:r>
            <a:endParaRPr lang="en-US" sz="1200" b="0" u="none" strike="noStrike">
              <a:solidFill>
                <a:srgbClr val="000000"/>
              </a:solidFill>
              <a:effectLst/>
              <a:uFillTx/>
              <a:latin typeface="Arial"/>
            </a:endParaRPr>
          </a:p>
        </p:txBody>
      </p:sp>
      <p:pic>
        <p:nvPicPr>
          <p:cNvPr id="17" name="Picture 16">
            <a:extLst>
              <a:ext uri="{FF2B5EF4-FFF2-40B4-BE49-F238E27FC236}">
                <a16:creationId xmlns:a16="http://schemas.microsoft.com/office/drawing/2014/main" id="{602C25B7-ADDF-FC0B-E847-6AEB889241DE}"/>
              </a:ext>
            </a:extLst>
          </p:cNvPr>
          <p:cNvPicPr/>
          <p:nvPr/>
        </p:nvPicPr>
        <p:blipFill>
          <a:blip r:embed="rId11"/>
          <a:stretch/>
        </p:blipFill>
        <p:spPr>
          <a:xfrm>
            <a:off x="4853160" y="3200400"/>
            <a:ext cx="4061880" cy="2285640"/>
          </a:xfrm>
          <a:prstGeom prst="rect">
            <a:avLst/>
          </a:prstGeom>
          <a:noFill/>
          <a:ln w="0">
            <a:noFill/>
          </a:ln>
        </p:spPr>
      </p:pic>
      <p:pic>
        <p:nvPicPr>
          <p:cNvPr id="18" name="Picture 17">
            <a:extLst>
              <a:ext uri="{FF2B5EF4-FFF2-40B4-BE49-F238E27FC236}">
                <a16:creationId xmlns:a16="http://schemas.microsoft.com/office/drawing/2014/main" id="{BAA2AB3D-69AA-49F5-705C-ACC4D32DC00B}"/>
              </a:ext>
            </a:extLst>
          </p:cNvPr>
          <p:cNvPicPr/>
          <p:nvPr/>
        </p:nvPicPr>
        <p:blipFill>
          <a:blip r:embed="rId12"/>
          <a:stretch/>
        </p:blipFill>
        <p:spPr>
          <a:xfrm>
            <a:off x="281160" y="3200400"/>
            <a:ext cx="4571640" cy="2323440"/>
          </a:xfrm>
          <a:prstGeom prst="rect">
            <a:avLst/>
          </a:prstGeom>
          <a:noFill/>
          <a:ln w="0">
            <a:noFill/>
          </a:ln>
        </p:spPr>
      </p:pic>
    </p:spTree>
    <p:extLst>
      <p:ext uri="{BB962C8B-B14F-4D97-AF65-F5344CB8AC3E}">
        <p14:creationId xmlns:p14="http://schemas.microsoft.com/office/powerpoint/2010/main" val="1205904835"/>
      </p:ext>
    </p:extLst>
  </p:cSld>
  <p:clrMapOvr>
    <a:masterClrMapping/>
  </p:clrMapOvr>
  <p:transition spd="slow" advTm="70039"/>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7CCDF-E98E-549E-EAFE-E8A91F732A1F}"/>
            </a:ext>
          </a:extLst>
        </p:cNvPr>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F19CC13A-9ACB-DCAA-D5CD-CB75E9058237}"/>
              </a:ext>
            </a:extLst>
          </p:cNvPr>
          <p:cNvSpPr/>
          <p:nvPr/>
        </p:nvSpPr>
        <p:spPr>
          <a:xfrm>
            <a:off x="-5715" y="-66"/>
            <a:ext cx="9149715" cy="725570"/>
          </a:xfrm>
          <a:prstGeom prst="rect">
            <a:avLst/>
          </a:prstGeom>
          <a:gradFill flip="none" rotWithShape="1">
            <a:gsLst>
              <a:gs pos="35000">
                <a:srgbClr val="36ACD8"/>
              </a:gs>
              <a:gs pos="78000">
                <a:srgbClr val="2E6CA4"/>
              </a:gs>
              <a:gs pos="100000">
                <a:srgbClr val="2E76A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Прямоугольник 11">
            <a:extLst>
              <a:ext uri="{FF2B5EF4-FFF2-40B4-BE49-F238E27FC236}">
                <a16:creationId xmlns:a16="http://schemas.microsoft.com/office/drawing/2014/main" id="{AB0EC3A8-6D04-1C7D-B870-72C9C1EF804B}"/>
              </a:ext>
            </a:extLst>
          </p:cNvPr>
          <p:cNvSpPr/>
          <p:nvPr/>
        </p:nvSpPr>
        <p:spPr>
          <a:xfrm>
            <a:off x="8604448" y="-2906"/>
            <a:ext cx="206809" cy="79665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13" name="Пятиугольник 84">
            <a:extLst>
              <a:ext uri="{FF2B5EF4-FFF2-40B4-BE49-F238E27FC236}">
                <a16:creationId xmlns:a16="http://schemas.microsoft.com/office/drawing/2014/main" id="{DEE230FC-76B4-4CA0-3833-BF2120EAD202}"/>
              </a:ext>
            </a:extLst>
          </p:cNvPr>
          <p:cNvSpPr/>
          <p:nvPr/>
        </p:nvSpPr>
        <p:spPr>
          <a:xfrm rot="5400000">
            <a:off x="16369" y="101765"/>
            <a:ext cx="901896" cy="698366"/>
          </a:xfrm>
          <a:prstGeom prst="homePlate">
            <a:avLst>
              <a:gd name="adj" fmla="val 22381"/>
            </a:avLst>
          </a:prstGeom>
          <a:solidFill>
            <a:srgbClr val="1CBA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4" name="Рисунок 13">
            <a:extLst>
              <a:ext uri="{FF2B5EF4-FFF2-40B4-BE49-F238E27FC236}">
                <a16:creationId xmlns:a16="http://schemas.microsoft.com/office/drawing/2014/main" id="{DE42EF40-A3F0-F0A8-6297-67F1A007464A}"/>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70541" y="276220"/>
            <a:ext cx="593734" cy="305513"/>
          </a:xfrm>
          <a:prstGeom prst="rect">
            <a:avLst/>
          </a:prstGeom>
        </p:spPr>
      </p:pic>
      <p:sp>
        <p:nvSpPr>
          <p:cNvPr id="7" name="Заголовок 6">
            <a:extLst>
              <a:ext uri="{FF2B5EF4-FFF2-40B4-BE49-F238E27FC236}">
                <a16:creationId xmlns:a16="http://schemas.microsoft.com/office/drawing/2014/main" id="{793DB77E-4A8B-52F3-0D9A-58CB779A98F6}"/>
              </a:ext>
            </a:extLst>
          </p:cNvPr>
          <p:cNvSpPr>
            <a:spLocks noGrp="1"/>
          </p:cNvSpPr>
          <p:nvPr>
            <p:ph type="title"/>
          </p:nvPr>
        </p:nvSpPr>
        <p:spPr>
          <a:xfrm>
            <a:off x="240673" y="59887"/>
            <a:ext cx="3311525" cy="369332"/>
          </a:xfrm>
        </p:spPr>
        <p:txBody>
          <a:bodyPr>
            <a:spAutoFit/>
          </a:bodyPr>
          <a:lstStyle/>
          <a:p>
            <a:pPr algn="ctr" eaLnBrk="1" hangingPunct="1">
              <a:spcAft>
                <a:spcPts val="0"/>
              </a:spcAft>
              <a:defRPr/>
            </a:pP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20</a:t>
            </a:r>
            <a:r>
              <a:rPr lang="uk-UA"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2</a:t>
            </a:r>
            <a:r>
              <a:rPr lang="ru-RU" sz="2000" b="1"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6</a:t>
            </a: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 </a:t>
            </a:r>
            <a:r>
              <a:rPr lang="en-US" sz="2000" b="1"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IEEE </a:t>
            </a: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SIST</a:t>
            </a:r>
            <a:endParaRPr lang="uk-UA" sz="20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endParaRPr>
          </a:p>
        </p:txBody>
      </p:sp>
      <p:pic>
        <p:nvPicPr>
          <p:cNvPr id="28" name="Рисунок 27">
            <a:extLst>
              <a:ext uri="{FF2B5EF4-FFF2-40B4-BE49-F238E27FC236}">
                <a16:creationId xmlns:a16="http://schemas.microsoft.com/office/drawing/2014/main" id="{297259F7-67C4-A936-2869-1A6E4DE385D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839663" y="-2906"/>
            <a:ext cx="1304337" cy="796656"/>
          </a:xfrm>
          <a:prstGeom prst="rect">
            <a:avLst/>
          </a:prstGeom>
        </p:spPr>
      </p:pic>
      <p:sp>
        <p:nvSpPr>
          <p:cNvPr id="27" name="Прямоугольник 26">
            <a:extLst>
              <a:ext uri="{FF2B5EF4-FFF2-40B4-BE49-F238E27FC236}">
                <a16:creationId xmlns:a16="http://schemas.microsoft.com/office/drawing/2014/main" id="{229DDAFC-FF7B-8283-EBBB-75084198E096}"/>
              </a:ext>
            </a:extLst>
          </p:cNvPr>
          <p:cNvSpPr/>
          <p:nvPr/>
        </p:nvSpPr>
        <p:spPr>
          <a:xfrm>
            <a:off x="0" y="6146441"/>
            <a:ext cx="9149715" cy="725570"/>
          </a:xfrm>
          <a:prstGeom prst="rect">
            <a:avLst/>
          </a:prstGeom>
          <a:gradFill flip="none" rotWithShape="1">
            <a:gsLst>
              <a:gs pos="35000">
                <a:srgbClr val="36ACD8"/>
              </a:gs>
              <a:gs pos="78000">
                <a:srgbClr val="2E6CA4"/>
              </a:gs>
              <a:gs pos="100000">
                <a:srgbClr val="2E76A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p>
        </p:txBody>
      </p:sp>
      <p:pic>
        <p:nvPicPr>
          <p:cNvPr id="2" name="Picture 7" descr="A blue text on a black background&#10;&#10;Description automatically generated">
            <a:extLst>
              <a:ext uri="{FF2B5EF4-FFF2-40B4-BE49-F238E27FC236}">
                <a16:creationId xmlns:a16="http://schemas.microsoft.com/office/drawing/2014/main" id="{8A199ED6-F17F-CDC5-DE27-37FBC21269F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296263" y="6342108"/>
            <a:ext cx="1076787" cy="387872"/>
          </a:xfrm>
          <a:prstGeom prst="rect">
            <a:avLst/>
          </a:prstGeom>
        </p:spPr>
      </p:pic>
      <p:pic>
        <p:nvPicPr>
          <p:cNvPr id="3" name="Рисунок 2" descr="Изображение выглядит как Шрифт, Графика, текст, круг&#10;&#10;Автоматически созданное описание">
            <a:extLst>
              <a:ext uri="{FF2B5EF4-FFF2-40B4-BE49-F238E27FC236}">
                <a16:creationId xmlns:a16="http://schemas.microsoft.com/office/drawing/2014/main" id="{AA88BD71-DDCF-64D1-F436-8CAD835EC04A}"/>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020678" y="6334640"/>
            <a:ext cx="784691" cy="402808"/>
          </a:xfrm>
          <a:prstGeom prst="rect">
            <a:avLst/>
          </a:prstGeom>
        </p:spPr>
      </p:pic>
      <p:pic>
        <p:nvPicPr>
          <p:cNvPr id="4" name="Рисунок 3">
            <a:extLst>
              <a:ext uri="{FF2B5EF4-FFF2-40B4-BE49-F238E27FC236}">
                <a16:creationId xmlns:a16="http://schemas.microsoft.com/office/drawing/2014/main" id="{CEBE99CE-9D7E-3102-3788-E211480B3014}"/>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24003" y="6273572"/>
            <a:ext cx="1174783" cy="471307"/>
          </a:xfrm>
          <a:prstGeom prst="rect">
            <a:avLst/>
          </a:prstGeom>
          <a:noFill/>
          <a:ln>
            <a:noFill/>
          </a:ln>
        </p:spPr>
      </p:pic>
      <p:pic>
        <p:nvPicPr>
          <p:cNvPr id="5" name="Рисунок 4">
            <a:extLst>
              <a:ext uri="{FF2B5EF4-FFF2-40B4-BE49-F238E27FC236}">
                <a16:creationId xmlns:a16="http://schemas.microsoft.com/office/drawing/2014/main" id="{57A35DCA-A856-C088-E029-1C77EF9075E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44140" y="6259474"/>
            <a:ext cx="412394" cy="538174"/>
          </a:xfrm>
          <a:prstGeom prst="rect">
            <a:avLst/>
          </a:prstGeom>
        </p:spPr>
      </p:pic>
      <p:pic>
        <p:nvPicPr>
          <p:cNvPr id="6" name="Рисунок 5">
            <a:extLst>
              <a:ext uri="{FF2B5EF4-FFF2-40B4-BE49-F238E27FC236}">
                <a16:creationId xmlns:a16="http://schemas.microsoft.com/office/drawing/2014/main" id="{A64DB67B-52A5-C40D-AB83-0BA1AD5FBE5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18404" y="6273572"/>
            <a:ext cx="1060923" cy="509978"/>
          </a:xfrm>
          <a:prstGeom prst="rect">
            <a:avLst/>
          </a:prstGeom>
        </p:spPr>
      </p:pic>
      <p:pic>
        <p:nvPicPr>
          <p:cNvPr id="8" name="Рисунок 7">
            <a:extLst>
              <a:ext uri="{FF2B5EF4-FFF2-40B4-BE49-F238E27FC236}">
                <a16:creationId xmlns:a16="http://schemas.microsoft.com/office/drawing/2014/main" id="{1E69CCF1-8555-01D1-4077-9C0D277429B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5919" y="6285329"/>
            <a:ext cx="1007689" cy="471307"/>
          </a:xfrm>
          <a:prstGeom prst="rect">
            <a:avLst/>
          </a:prstGeom>
        </p:spPr>
      </p:pic>
      <p:pic>
        <p:nvPicPr>
          <p:cNvPr id="9" name="Рисунок 8">
            <a:extLst>
              <a:ext uri="{FF2B5EF4-FFF2-40B4-BE49-F238E27FC236}">
                <a16:creationId xmlns:a16="http://schemas.microsoft.com/office/drawing/2014/main" id="{FA9C7D64-7D46-D9E6-64FE-D2488D9808F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324586" y="6315453"/>
            <a:ext cx="493286" cy="441183"/>
          </a:xfrm>
          <a:prstGeom prst="rect">
            <a:avLst/>
          </a:prstGeom>
        </p:spPr>
      </p:pic>
      <p:sp>
        <p:nvSpPr>
          <p:cNvPr id="15" name="PlaceHolder 2">
            <a:extLst>
              <a:ext uri="{FF2B5EF4-FFF2-40B4-BE49-F238E27FC236}">
                <a16:creationId xmlns:a16="http://schemas.microsoft.com/office/drawing/2014/main" id="{F58CAD47-B09F-3A40-B223-4BEC71F94EF7}"/>
              </a:ext>
            </a:extLst>
          </p:cNvPr>
          <p:cNvSpPr txBox="1">
            <a:spLocks/>
          </p:cNvSpPr>
          <p:nvPr/>
        </p:nvSpPr>
        <p:spPr>
          <a:xfrm>
            <a:off x="362280" y="1156104"/>
            <a:ext cx="8298360" cy="1149480"/>
          </a:xfrm>
          <a:prstGeom prst="rect">
            <a:avLst/>
          </a:prstGeom>
          <a:noFill/>
          <a:ln w="0">
            <a:noFill/>
          </a:ln>
        </p:spPr>
        <p:txBody>
          <a:bodyPr vert="horz" lIns="91440" tIns="45720" rIns="91440" bIns="45720" rtlCol="0" anchor="t">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171360">
              <a:spcBef>
                <a:spcPts val="751"/>
              </a:spcBef>
              <a:tabLst>
                <a:tab pos="0" algn="l"/>
              </a:tabLst>
            </a:pPr>
            <a:r>
              <a:rPr lang="en-US" sz="2100" dirty="0">
                <a:solidFill>
                  <a:schemeClr val="dk1"/>
                </a:solidFill>
                <a:latin typeface="Calibri"/>
              </a:rPr>
              <a:t>Results of computer simulation to represent supply chain lifecycle in </a:t>
            </a:r>
            <a:r>
              <a:rPr lang="en-US" sz="2100" dirty="0" err="1">
                <a:solidFill>
                  <a:schemeClr val="dk1"/>
                </a:solidFill>
                <a:latin typeface="Calibri"/>
              </a:rPr>
              <a:t>PyPI</a:t>
            </a:r>
            <a:endParaRPr lang="en-US" sz="2100" dirty="0">
              <a:solidFill>
                <a:srgbClr val="000000"/>
              </a:solidFill>
              <a:latin typeface="Arial"/>
            </a:endParaRPr>
          </a:p>
          <a:p>
            <a:pPr marL="864000" lvl="1" indent="-324000" algn="just" defTabSz="685800">
              <a:lnSpc>
                <a:spcPct val="90000"/>
              </a:lnSpc>
              <a:spcBef>
                <a:spcPts val="1134"/>
              </a:spcBef>
              <a:buClr>
                <a:srgbClr val="000000"/>
              </a:buClr>
              <a:buSzPct val="75000"/>
              <a:buFont typeface="Symbol" charset="2"/>
              <a:buChar char=""/>
              <a:tabLst>
                <a:tab pos="0" algn="l"/>
              </a:tabLst>
            </a:pPr>
            <a:r>
              <a:rPr lang="en-US" sz="1500" kern="0" dirty="0">
                <a:solidFill>
                  <a:schemeClr val="dk1"/>
                </a:solidFill>
                <a:latin typeface="Calibri"/>
              </a:rPr>
              <a:t>The practical results of the simulation iteration are presented in Figure 8, alongside specific parameters detailed in Table 1.</a:t>
            </a:r>
            <a:endParaRPr lang="en-US" sz="1500" kern="0" dirty="0">
              <a:solidFill>
                <a:srgbClr val="000000"/>
              </a:solidFill>
              <a:latin typeface="Arial"/>
            </a:endParaRPr>
          </a:p>
          <a:p>
            <a:pPr marL="171360">
              <a:spcBef>
                <a:spcPts val="751"/>
              </a:spcBef>
              <a:tabLst>
                <a:tab pos="0" algn="l"/>
              </a:tabLst>
            </a:pPr>
            <a:endParaRPr lang="en-US" sz="2100" dirty="0">
              <a:solidFill>
                <a:srgbClr val="000000"/>
              </a:solidFill>
              <a:latin typeface="Arial"/>
            </a:endParaRPr>
          </a:p>
        </p:txBody>
      </p:sp>
      <p:graphicFrame>
        <p:nvGraphicFramePr>
          <p:cNvPr id="16" name="Table 15">
            <a:extLst>
              <a:ext uri="{FF2B5EF4-FFF2-40B4-BE49-F238E27FC236}">
                <a16:creationId xmlns:a16="http://schemas.microsoft.com/office/drawing/2014/main" id="{0E896A55-39C2-3BB6-79D9-583E898BECB2}"/>
              </a:ext>
            </a:extLst>
          </p:cNvPr>
          <p:cNvGraphicFramePr/>
          <p:nvPr>
            <p:extLst>
              <p:ext uri="{D42A27DB-BD31-4B8C-83A1-F6EECF244321}">
                <p14:modId xmlns:p14="http://schemas.microsoft.com/office/powerpoint/2010/main" val="2740042799"/>
              </p:ext>
            </p:extLst>
          </p:nvPr>
        </p:nvGraphicFramePr>
        <p:xfrm>
          <a:off x="395536" y="2217384"/>
          <a:ext cx="2877120" cy="3587880"/>
        </p:xfrm>
        <a:graphic>
          <a:graphicData uri="http://schemas.openxmlformats.org/drawingml/2006/table">
            <a:tbl>
              <a:tblPr/>
              <a:tblGrid>
                <a:gridCol w="1024560">
                  <a:extLst>
                    <a:ext uri="{9D8B030D-6E8A-4147-A177-3AD203B41FA5}">
                      <a16:colId xmlns:a16="http://schemas.microsoft.com/office/drawing/2014/main" val="20000"/>
                    </a:ext>
                  </a:extLst>
                </a:gridCol>
                <a:gridCol w="1852560">
                  <a:extLst>
                    <a:ext uri="{9D8B030D-6E8A-4147-A177-3AD203B41FA5}">
                      <a16:colId xmlns:a16="http://schemas.microsoft.com/office/drawing/2014/main" val="20001"/>
                    </a:ext>
                  </a:extLst>
                </a:gridCol>
              </a:tblGrid>
              <a:tr h="305640">
                <a:tc>
                  <a:txBody>
                    <a:bodyPr/>
                    <a:lstStyle/>
                    <a:p>
                      <a:pPr algn="ctr"/>
                      <a:r>
                        <a:rPr lang="en-US" sz="1500" b="0" u="none" strike="noStrike">
                          <a:solidFill>
                            <a:srgbClr val="000000"/>
                          </a:solidFill>
                          <a:effectLst/>
                          <a:uFillTx/>
                          <a:latin typeface="Calibri"/>
                        </a:rPr>
                        <a:t>Fields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r>
                        <a:rPr lang="en-US" sz="1500" b="0" u="none" strike="noStrike" dirty="0">
                          <a:solidFill>
                            <a:srgbClr val="000000"/>
                          </a:solidFill>
                          <a:effectLst/>
                          <a:uFillTx/>
                          <a:latin typeface="Calibri"/>
                        </a:rPr>
                        <a:t>Values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197280">
                <a:tc>
                  <a:txBody>
                    <a:bodyPr/>
                    <a:lstStyle/>
                    <a:p>
                      <a:pPr algn="ctr"/>
                      <a:r>
                        <a:rPr lang="en-US" sz="700" b="0" u="none" strike="noStrike">
                          <a:solidFill>
                            <a:srgbClr val="000000"/>
                          </a:solidFill>
                          <a:effectLst/>
                          <a:uFillTx/>
                          <a:latin typeface="Calibri"/>
                        </a:rPr>
                        <a:t>random_seed</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r>
                        <a:rPr lang="en-US" sz="700" b="0" u="none" strike="noStrike">
                          <a:solidFill>
                            <a:srgbClr val="000000"/>
                          </a:solidFill>
                          <a:effectLst/>
                          <a:uFillTx/>
                          <a:latin typeface="Calibri"/>
                        </a:rPr>
                        <a:t>42</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197280">
                <a:tc>
                  <a:txBody>
                    <a:bodyPr/>
                    <a:lstStyle/>
                    <a:p>
                      <a:pPr algn="ctr"/>
                      <a:r>
                        <a:rPr lang="en-US" sz="700" b="0" u="none" strike="noStrike">
                          <a:solidFill>
                            <a:srgbClr val="000000"/>
                          </a:solidFill>
                          <a:effectLst/>
                          <a:uFillTx/>
                          <a:latin typeface="Calibri"/>
                        </a:rPr>
                        <a:t>num_developers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r>
                        <a:rPr lang="en-US" sz="700" b="0" u="none" strike="noStrike">
                          <a:solidFill>
                            <a:srgbClr val="000000"/>
                          </a:solidFill>
                          <a:effectLst/>
                          <a:uFillTx/>
                          <a:latin typeface="Calibri"/>
                        </a:rPr>
                        <a:t>300</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322200">
                <a:tc>
                  <a:txBody>
                    <a:bodyPr/>
                    <a:lstStyle/>
                    <a:p>
                      <a:pPr algn="ctr"/>
                      <a:r>
                        <a:rPr lang="en-US" sz="700" b="0" u="none" strike="noStrike">
                          <a:solidFill>
                            <a:srgbClr val="000000"/>
                          </a:solidFill>
                          <a:effectLst/>
                          <a:uFillTx/>
                          <a:latin typeface="Calibri"/>
                        </a:rPr>
                        <a:t>num_threat_actors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r>
                        <a:rPr lang="en-US" sz="700" b="0" u="none" strike="noStrike">
                          <a:solidFill>
                            <a:srgbClr val="000000"/>
                          </a:solidFill>
                          <a:effectLst/>
                          <a:uFillTx/>
                          <a:latin typeface="Calibri"/>
                        </a:rPr>
                        <a:t>5</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197280">
                <a:tc>
                  <a:txBody>
                    <a:bodyPr/>
                    <a:lstStyle/>
                    <a:p>
                      <a:pPr algn="ctr"/>
                      <a:r>
                        <a:rPr lang="en-US" sz="700" b="0" u="none" strike="noStrike">
                          <a:solidFill>
                            <a:srgbClr val="000000"/>
                          </a:solidFill>
                          <a:effectLst/>
                          <a:uFillTx/>
                          <a:latin typeface="Calibri"/>
                        </a:rPr>
                        <a:t>max_publishers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r>
                        <a:rPr lang="en-US" sz="700" b="0" u="none" strike="noStrike">
                          <a:solidFill>
                            <a:srgbClr val="000000"/>
                          </a:solidFill>
                          <a:effectLst/>
                          <a:uFillTx/>
                          <a:latin typeface="Calibri"/>
                        </a:rPr>
                        <a:t>30</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197280">
                <a:tc>
                  <a:txBody>
                    <a:bodyPr/>
                    <a:lstStyle/>
                    <a:p>
                      <a:pPr algn="ctr"/>
                      <a:r>
                        <a:rPr lang="en-US" sz="700" b="0" u="none" strike="noStrike">
                          <a:solidFill>
                            <a:srgbClr val="000000"/>
                          </a:solidFill>
                          <a:effectLst/>
                          <a:uFillTx/>
                          <a:latin typeface="Calibri"/>
                        </a:rPr>
                        <a:t>max_packages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r>
                        <a:rPr lang="en-US" sz="700" b="0" u="none" strike="noStrike">
                          <a:solidFill>
                            <a:srgbClr val="000000"/>
                          </a:solidFill>
                          <a:effectLst/>
                          <a:uFillTx/>
                          <a:latin typeface="Calibri"/>
                        </a:rPr>
                        <a:t>500 (unique by names)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r h="322200">
                <a:tc>
                  <a:txBody>
                    <a:bodyPr/>
                    <a:lstStyle/>
                    <a:p>
                      <a:pPr algn="ctr"/>
                      <a:r>
                        <a:rPr lang="en-US" sz="700" b="0" u="none" strike="noStrike">
                          <a:solidFill>
                            <a:srgbClr val="000000"/>
                          </a:solidFill>
                          <a:effectLst/>
                          <a:uFillTx/>
                          <a:latin typeface="Calibri"/>
                        </a:rPr>
                        <a:t>max_package_per_publisher</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r>
                        <a:rPr lang="en-US" sz="700" b="0" u="none" strike="noStrike">
                          <a:solidFill>
                            <a:srgbClr val="000000"/>
                          </a:solidFill>
                          <a:effectLst/>
                          <a:uFillTx/>
                          <a:latin typeface="Calibri"/>
                        </a:rPr>
                        <a:t>20</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6"/>
                  </a:ext>
                </a:extLst>
              </a:tr>
              <a:tr h="322200">
                <a:tc>
                  <a:txBody>
                    <a:bodyPr/>
                    <a:lstStyle/>
                    <a:p>
                      <a:pPr algn="ctr"/>
                      <a:r>
                        <a:rPr lang="en-US" sz="700" b="0" u="none" strike="noStrike">
                          <a:solidFill>
                            <a:srgbClr val="000000"/>
                          </a:solidFill>
                          <a:effectLst/>
                          <a:uFillTx/>
                          <a:latin typeface="Calibri"/>
                        </a:rPr>
                        <a:t>max_package_versions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r>
                        <a:rPr lang="en-US" sz="700" b="0" u="none" strike="noStrike">
                          <a:solidFill>
                            <a:srgbClr val="000000"/>
                          </a:solidFill>
                          <a:effectLst/>
                          <a:uFillTx/>
                          <a:latin typeface="Calibri"/>
                        </a:rPr>
                        <a:t>9 (variations of package)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7"/>
                  </a:ext>
                </a:extLst>
              </a:tr>
              <a:tr h="197280">
                <a:tc>
                  <a:txBody>
                    <a:bodyPr/>
                    <a:lstStyle/>
                    <a:p>
                      <a:pPr algn="ctr"/>
                      <a:r>
                        <a:rPr lang="en-US" sz="700" b="0" u="none" strike="noStrike">
                          <a:solidFill>
                            <a:srgbClr val="000000"/>
                          </a:solidFill>
                          <a:effectLst/>
                          <a:uFillTx/>
                          <a:latin typeface="Calibri"/>
                        </a:rPr>
                        <a:t>max_steps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r>
                        <a:rPr lang="en-US" sz="700" b="0" u="none" strike="noStrike">
                          <a:solidFill>
                            <a:srgbClr val="000000"/>
                          </a:solidFill>
                          <a:effectLst/>
                          <a:uFillTx/>
                          <a:latin typeface="Calibri"/>
                        </a:rPr>
                        <a:t>365</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8"/>
                  </a:ext>
                </a:extLst>
              </a:tr>
              <a:tr h="197280">
                <a:tc>
                  <a:txBody>
                    <a:bodyPr/>
                    <a:lstStyle/>
                    <a:p>
                      <a:pPr algn="ctr"/>
                      <a:r>
                        <a:rPr lang="en-US" sz="700" b="0" u="none" strike="noStrike">
                          <a:solidFill>
                            <a:srgbClr val="000000"/>
                          </a:solidFill>
                          <a:effectLst/>
                          <a:uFillTx/>
                          <a:latin typeface="Calibri"/>
                        </a:rPr>
                        <a:t>developer_actions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r>
                        <a:rPr lang="en-US" sz="700" b="0" u="none" strike="noStrike">
                          <a:solidFill>
                            <a:srgbClr val="000000"/>
                          </a:solidFill>
                          <a:effectLst/>
                          <a:uFillTx/>
                          <a:latin typeface="Calibri"/>
                        </a:rPr>
                        <a:t>check_state 45%, install_package 20%, change_package 30%, remove_package 5%</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9"/>
                  </a:ext>
                </a:extLst>
              </a:tr>
              <a:tr h="197280">
                <a:tc>
                  <a:txBody>
                    <a:bodyPr/>
                    <a:lstStyle/>
                    <a:p>
                      <a:pPr algn="ctr"/>
                      <a:r>
                        <a:rPr lang="en-US" sz="700" b="0" u="none" strike="noStrike">
                          <a:solidFill>
                            <a:srgbClr val="000000"/>
                          </a:solidFill>
                          <a:effectLst/>
                          <a:uFillTx/>
                          <a:latin typeface="Calibri"/>
                        </a:rPr>
                        <a:t>publisher_actions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r>
                        <a:rPr lang="en-US" sz="700" b="0" u="none" strike="noStrike">
                          <a:solidFill>
                            <a:srgbClr val="000000"/>
                          </a:solidFill>
                          <a:effectLst/>
                          <a:uFillTx/>
                          <a:latin typeface="Calibri"/>
                        </a:rPr>
                        <a:t>publish_package 25%, update_package 75%</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10"/>
                  </a:ext>
                </a:extLst>
              </a:tr>
              <a:tr h="197280">
                <a:tc>
                  <a:txBody>
                    <a:bodyPr/>
                    <a:lstStyle/>
                    <a:p>
                      <a:pPr algn="ctr"/>
                      <a:r>
                        <a:rPr lang="en-US" sz="700" b="0" u="none" strike="noStrike">
                          <a:solidFill>
                            <a:srgbClr val="000000"/>
                          </a:solidFill>
                          <a:effectLst/>
                          <a:uFillTx/>
                          <a:latin typeface="Calibri"/>
                        </a:rPr>
                        <a:t>developer_decompromise_success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r>
                        <a:rPr lang="en-US" sz="700" b="0" u="none" strike="noStrike">
                          <a:solidFill>
                            <a:srgbClr val="000000"/>
                          </a:solidFill>
                          <a:effectLst/>
                          <a:uFillTx/>
                          <a:latin typeface="Calibri"/>
                        </a:rPr>
                        <a:t>50%</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11"/>
                  </a:ext>
                </a:extLst>
              </a:tr>
              <a:tr h="197280">
                <a:tc>
                  <a:txBody>
                    <a:bodyPr/>
                    <a:lstStyle/>
                    <a:p>
                      <a:pPr algn="ctr"/>
                      <a:r>
                        <a:rPr lang="en-US" sz="700" b="0" u="none" strike="noStrike">
                          <a:solidFill>
                            <a:srgbClr val="000000"/>
                          </a:solidFill>
                          <a:effectLst/>
                          <a:uFillTx/>
                          <a:latin typeface="Calibri"/>
                        </a:rPr>
                        <a:t>package_compromisation_reveal_time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r>
                        <a:rPr lang="en-US" sz="700" b="0" u="none" strike="noStrike">
                          <a:solidFill>
                            <a:srgbClr val="000000"/>
                          </a:solidFill>
                          <a:effectLst/>
                          <a:uFillTx/>
                          <a:latin typeface="Calibri"/>
                        </a:rPr>
                        <a:t>range(7, 14)</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12"/>
                  </a:ext>
                </a:extLst>
              </a:tr>
              <a:tr h="197280">
                <a:tc>
                  <a:txBody>
                    <a:bodyPr/>
                    <a:lstStyle/>
                    <a:p>
                      <a:pPr algn="ctr"/>
                      <a:r>
                        <a:rPr lang="en-US" sz="700" b="0" u="none" strike="noStrike">
                          <a:solidFill>
                            <a:srgbClr val="000000"/>
                          </a:solidFill>
                          <a:effectLst/>
                          <a:uFillTx/>
                          <a:latin typeface="Calibri"/>
                        </a:rPr>
                        <a:t>threat_actor_attack_rate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r>
                        <a:rPr lang="en-US" sz="700" b="0" u="none" strike="noStrike" dirty="0">
                          <a:solidFill>
                            <a:srgbClr val="000000"/>
                          </a:solidFill>
                          <a:effectLst/>
                          <a:uFillTx/>
                          <a:latin typeface="Calibri"/>
                        </a:rPr>
                        <a:t>14</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13"/>
                  </a:ext>
                </a:extLst>
              </a:tr>
            </a:tbl>
          </a:graphicData>
        </a:graphic>
      </p:graphicFrame>
      <p:pic>
        <p:nvPicPr>
          <p:cNvPr id="17" name="Picture 16">
            <a:extLst>
              <a:ext uri="{FF2B5EF4-FFF2-40B4-BE49-F238E27FC236}">
                <a16:creationId xmlns:a16="http://schemas.microsoft.com/office/drawing/2014/main" id="{85D81448-C5B1-B288-713F-356B747AF03E}"/>
              </a:ext>
            </a:extLst>
          </p:cNvPr>
          <p:cNvPicPr/>
          <p:nvPr/>
        </p:nvPicPr>
        <p:blipFill>
          <a:blip r:embed="rId11"/>
          <a:stretch/>
        </p:blipFill>
        <p:spPr>
          <a:xfrm>
            <a:off x="3592696" y="2220984"/>
            <a:ext cx="3697920" cy="3081600"/>
          </a:xfrm>
          <a:prstGeom prst="rect">
            <a:avLst/>
          </a:prstGeom>
          <a:noFill/>
          <a:ln w="0">
            <a:noFill/>
          </a:ln>
        </p:spPr>
      </p:pic>
      <p:pic>
        <p:nvPicPr>
          <p:cNvPr id="18" name="Picture 17">
            <a:extLst>
              <a:ext uri="{FF2B5EF4-FFF2-40B4-BE49-F238E27FC236}">
                <a16:creationId xmlns:a16="http://schemas.microsoft.com/office/drawing/2014/main" id="{EFE4CBD0-73BA-02B4-01D2-241D1FB0C890}"/>
              </a:ext>
            </a:extLst>
          </p:cNvPr>
          <p:cNvPicPr/>
          <p:nvPr/>
        </p:nvPicPr>
        <p:blipFill>
          <a:blip r:embed="rId12"/>
          <a:srcRect r="49999"/>
          <a:stretch/>
        </p:blipFill>
        <p:spPr>
          <a:xfrm>
            <a:off x="7290616" y="2197584"/>
            <a:ext cx="1504440" cy="1600200"/>
          </a:xfrm>
          <a:prstGeom prst="rect">
            <a:avLst/>
          </a:prstGeom>
          <a:noFill/>
          <a:ln w="0">
            <a:noFill/>
          </a:ln>
        </p:spPr>
      </p:pic>
      <p:pic>
        <p:nvPicPr>
          <p:cNvPr id="19" name="Picture 18">
            <a:extLst>
              <a:ext uri="{FF2B5EF4-FFF2-40B4-BE49-F238E27FC236}">
                <a16:creationId xmlns:a16="http://schemas.microsoft.com/office/drawing/2014/main" id="{5AB707AD-7C63-8A76-548D-A2689A4C9348}"/>
              </a:ext>
            </a:extLst>
          </p:cNvPr>
          <p:cNvPicPr/>
          <p:nvPr/>
        </p:nvPicPr>
        <p:blipFill>
          <a:blip r:embed="rId12"/>
          <a:srcRect l="49987"/>
          <a:stretch/>
        </p:blipFill>
        <p:spPr>
          <a:xfrm>
            <a:off x="7218616" y="3816864"/>
            <a:ext cx="1452960" cy="1545120"/>
          </a:xfrm>
          <a:prstGeom prst="rect">
            <a:avLst/>
          </a:prstGeom>
          <a:noFill/>
          <a:ln w="0">
            <a:noFill/>
          </a:ln>
        </p:spPr>
      </p:pic>
      <p:sp>
        <p:nvSpPr>
          <p:cNvPr id="20" name="Rectangle 19">
            <a:extLst>
              <a:ext uri="{FF2B5EF4-FFF2-40B4-BE49-F238E27FC236}">
                <a16:creationId xmlns:a16="http://schemas.microsoft.com/office/drawing/2014/main" id="{65541C7A-5C07-484F-BC94-F76772DFEFA2}"/>
              </a:ext>
            </a:extLst>
          </p:cNvPr>
          <p:cNvSpPr/>
          <p:nvPr/>
        </p:nvSpPr>
        <p:spPr>
          <a:xfrm>
            <a:off x="3465616" y="5397984"/>
            <a:ext cx="5522040" cy="273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200" b="0" u="none" strike="noStrike">
                <a:solidFill>
                  <a:srgbClr val="000000"/>
                </a:solidFill>
                <a:effectLst/>
                <a:uFillTx/>
                <a:latin typeface="Arial"/>
                <a:ea typeface="DejaVu Sans"/>
              </a:rPr>
              <a:t>Figure 8: Trends in compromises of package and developer.</a:t>
            </a:r>
            <a:endParaRPr lang="en-US" sz="1200" b="0" u="none" strike="noStrike">
              <a:solidFill>
                <a:srgbClr val="000000"/>
              </a:solidFill>
              <a:effectLst/>
              <a:uFillTx/>
              <a:latin typeface="Arial"/>
            </a:endParaRPr>
          </a:p>
        </p:txBody>
      </p:sp>
    </p:spTree>
    <p:extLst>
      <p:ext uri="{BB962C8B-B14F-4D97-AF65-F5344CB8AC3E}">
        <p14:creationId xmlns:p14="http://schemas.microsoft.com/office/powerpoint/2010/main" val="2983047748"/>
      </p:ext>
    </p:extLst>
  </p:cSld>
  <p:clrMapOvr>
    <a:masterClrMapping/>
  </p:clrMapOvr>
  <p:transition spd="slow" advTm="70039"/>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02E3A-C414-E683-391A-04DAF47C72D0}"/>
            </a:ext>
          </a:extLst>
        </p:cNvPr>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D1A82847-32B3-031F-C930-09CC85674514}"/>
              </a:ext>
            </a:extLst>
          </p:cNvPr>
          <p:cNvSpPr/>
          <p:nvPr/>
        </p:nvSpPr>
        <p:spPr>
          <a:xfrm>
            <a:off x="-5715" y="-66"/>
            <a:ext cx="9149715" cy="725570"/>
          </a:xfrm>
          <a:prstGeom prst="rect">
            <a:avLst/>
          </a:prstGeom>
          <a:gradFill flip="none" rotWithShape="1">
            <a:gsLst>
              <a:gs pos="35000">
                <a:srgbClr val="36ACD8"/>
              </a:gs>
              <a:gs pos="78000">
                <a:srgbClr val="2E6CA4"/>
              </a:gs>
              <a:gs pos="100000">
                <a:srgbClr val="2E76A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Прямоугольник 11">
            <a:extLst>
              <a:ext uri="{FF2B5EF4-FFF2-40B4-BE49-F238E27FC236}">
                <a16:creationId xmlns:a16="http://schemas.microsoft.com/office/drawing/2014/main" id="{21C3542B-FDFD-E990-FECF-4C07F5E77C26}"/>
              </a:ext>
            </a:extLst>
          </p:cNvPr>
          <p:cNvSpPr/>
          <p:nvPr/>
        </p:nvSpPr>
        <p:spPr>
          <a:xfrm>
            <a:off x="8604448" y="-2906"/>
            <a:ext cx="206809" cy="79665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13" name="Пятиугольник 84">
            <a:extLst>
              <a:ext uri="{FF2B5EF4-FFF2-40B4-BE49-F238E27FC236}">
                <a16:creationId xmlns:a16="http://schemas.microsoft.com/office/drawing/2014/main" id="{982DD937-B954-21F2-50E8-13F62FFE5E95}"/>
              </a:ext>
            </a:extLst>
          </p:cNvPr>
          <p:cNvSpPr/>
          <p:nvPr/>
        </p:nvSpPr>
        <p:spPr>
          <a:xfrm rot="5400000">
            <a:off x="16369" y="101765"/>
            <a:ext cx="901896" cy="698366"/>
          </a:xfrm>
          <a:prstGeom prst="homePlate">
            <a:avLst>
              <a:gd name="adj" fmla="val 22381"/>
            </a:avLst>
          </a:prstGeom>
          <a:solidFill>
            <a:srgbClr val="1CBA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4" name="Рисунок 13">
            <a:extLst>
              <a:ext uri="{FF2B5EF4-FFF2-40B4-BE49-F238E27FC236}">
                <a16:creationId xmlns:a16="http://schemas.microsoft.com/office/drawing/2014/main" id="{16E453C2-6FD9-3BC7-68C1-CC2A24AB96F0}"/>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70541" y="276220"/>
            <a:ext cx="593734" cy="305513"/>
          </a:xfrm>
          <a:prstGeom prst="rect">
            <a:avLst/>
          </a:prstGeom>
        </p:spPr>
      </p:pic>
      <p:sp>
        <p:nvSpPr>
          <p:cNvPr id="7" name="Заголовок 6">
            <a:extLst>
              <a:ext uri="{FF2B5EF4-FFF2-40B4-BE49-F238E27FC236}">
                <a16:creationId xmlns:a16="http://schemas.microsoft.com/office/drawing/2014/main" id="{24BC1FFD-8B30-0B3E-4F63-C81A7DD93D79}"/>
              </a:ext>
            </a:extLst>
          </p:cNvPr>
          <p:cNvSpPr>
            <a:spLocks noGrp="1"/>
          </p:cNvSpPr>
          <p:nvPr>
            <p:ph type="title"/>
          </p:nvPr>
        </p:nvSpPr>
        <p:spPr>
          <a:xfrm>
            <a:off x="240673" y="59887"/>
            <a:ext cx="3311525" cy="369332"/>
          </a:xfrm>
        </p:spPr>
        <p:txBody>
          <a:bodyPr>
            <a:spAutoFit/>
          </a:bodyPr>
          <a:lstStyle/>
          <a:p>
            <a:pPr algn="ctr" eaLnBrk="1" hangingPunct="1">
              <a:spcAft>
                <a:spcPts val="0"/>
              </a:spcAft>
              <a:defRPr/>
            </a:pP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20</a:t>
            </a:r>
            <a:r>
              <a:rPr lang="uk-UA"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2</a:t>
            </a:r>
            <a:r>
              <a:rPr lang="ru-RU" sz="2000" b="1"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6</a:t>
            </a: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 </a:t>
            </a:r>
            <a:r>
              <a:rPr lang="en-US" sz="2000" b="1"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IEEE </a:t>
            </a: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SIST</a:t>
            </a:r>
            <a:endParaRPr lang="uk-UA" sz="20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endParaRPr>
          </a:p>
        </p:txBody>
      </p:sp>
      <p:pic>
        <p:nvPicPr>
          <p:cNvPr id="28" name="Рисунок 27">
            <a:extLst>
              <a:ext uri="{FF2B5EF4-FFF2-40B4-BE49-F238E27FC236}">
                <a16:creationId xmlns:a16="http://schemas.microsoft.com/office/drawing/2014/main" id="{1DBAED11-126C-A335-CB99-AF69A3DCC29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839663" y="-2906"/>
            <a:ext cx="1304337" cy="796656"/>
          </a:xfrm>
          <a:prstGeom prst="rect">
            <a:avLst/>
          </a:prstGeom>
        </p:spPr>
      </p:pic>
      <p:sp>
        <p:nvSpPr>
          <p:cNvPr id="27" name="Прямоугольник 26">
            <a:extLst>
              <a:ext uri="{FF2B5EF4-FFF2-40B4-BE49-F238E27FC236}">
                <a16:creationId xmlns:a16="http://schemas.microsoft.com/office/drawing/2014/main" id="{EAD6C793-8F76-B9FD-1634-88F30F83A1B5}"/>
              </a:ext>
            </a:extLst>
          </p:cNvPr>
          <p:cNvSpPr/>
          <p:nvPr/>
        </p:nvSpPr>
        <p:spPr>
          <a:xfrm>
            <a:off x="0" y="6146441"/>
            <a:ext cx="9149715" cy="725570"/>
          </a:xfrm>
          <a:prstGeom prst="rect">
            <a:avLst/>
          </a:prstGeom>
          <a:gradFill flip="none" rotWithShape="1">
            <a:gsLst>
              <a:gs pos="35000">
                <a:srgbClr val="36ACD8"/>
              </a:gs>
              <a:gs pos="78000">
                <a:srgbClr val="2E6CA4"/>
              </a:gs>
              <a:gs pos="100000">
                <a:srgbClr val="2E76A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p>
        </p:txBody>
      </p:sp>
      <p:pic>
        <p:nvPicPr>
          <p:cNvPr id="2" name="Picture 7" descr="A blue text on a black background&#10;&#10;Description automatically generated">
            <a:extLst>
              <a:ext uri="{FF2B5EF4-FFF2-40B4-BE49-F238E27FC236}">
                <a16:creationId xmlns:a16="http://schemas.microsoft.com/office/drawing/2014/main" id="{779FF80D-4BF3-C2B6-2958-8228BDBD1EC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296263" y="6342108"/>
            <a:ext cx="1076787" cy="387872"/>
          </a:xfrm>
          <a:prstGeom prst="rect">
            <a:avLst/>
          </a:prstGeom>
        </p:spPr>
      </p:pic>
      <p:pic>
        <p:nvPicPr>
          <p:cNvPr id="3" name="Рисунок 2" descr="Изображение выглядит как Шрифт, Графика, текст, круг&#10;&#10;Автоматически созданное описание">
            <a:extLst>
              <a:ext uri="{FF2B5EF4-FFF2-40B4-BE49-F238E27FC236}">
                <a16:creationId xmlns:a16="http://schemas.microsoft.com/office/drawing/2014/main" id="{DC95388F-7A3F-59F7-C7CE-12CF07B02A44}"/>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020678" y="6334640"/>
            <a:ext cx="784691" cy="402808"/>
          </a:xfrm>
          <a:prstGeom prst="rect">
            <a:avLst/>
          </a:prstGeom>
        </p:spPr>
      </p:pic>
      <p:pic>
        <p:nvPicPr>
          <p:cNvPr id="4" name="Рисунок 3">
            <a:extLst>
              <a:ext uri="{FF2B5EF4-FFF2-40B4-BE49-F238E27FC236}">
                <a16:creationId xmlns:a16="http://schemas.microsoft.com/office/drawing/2014/main" id="{F835B1EE-6019-5955-0D49-410682FB9519}"/>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24003" y="6273572"/>
            <a:ext cx="1174783" cy="471307"/>
          </a:xfrm>
          <a:prstGeom prst="rect">
            <a:avLst/>
          </a:prstGeom>
          <a:noFill/>
          <a:ln>
            <a:noFill/>
          </a:ln>
        </p:spPr>
      </p:pic>
      <p:pic>
        <p:nvPicPr>
          <p:cNvPr id="5" name="Рисунок 4">
            <a:extLst>
              <a:ext uri="{FF2B5EF4-FFF2-40B4-BE49-F238E27FC236}">
                <a16:creationId xmlns:a16="http://schemas.microsoft.com/office/drawing/2014/main" id="{4492D6BA-D085-88A8-024A-D128AC777B4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44140" y="6259474"/>
            <a:ext cx="412394" cy="538174"/>
          </a:xfrm>
          <a:prstGeom prst="rect">
            <a:avLst/>
          </a:prstGeom>
        </p:spPr>
      </p:pic>
      <p:pic>
        <p:nvPicPr>
          <p:cNvPr id="6" name="Рисунок 5">
            <a:extLst>
              <a:ext uri="{FF2B5EF4-FFF2-40B4-BE49-F238E27FC236}">
                <a16:creationId xmlns:a16="http://schemas.microsoft.com/office/drawing/2014/main" id="{60CE4566-B5E1-8B16-7F8C-813D483D205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18404" y="6273572"/>
            <a:ext cx="1060923" cy="509978"/>
          </a:xfrm>
          <a:prstGeom prst="rect">
            <a:avLst/>
          </a:prstGeom>
        </p:spPr>
      </p:pic>
      <p:pic>
        <p:nvPicPr>
          <p:cNvPr id="8" name="Рисунок 7">
            <a:extLst>
              <a:ext uri="{FF2B5EF4-FFF2-40B4-BE49-F238E27FC236}">
                <a16:creationId xmlns:a16="http://schemas.microsoft.com/office/drawing/2014/main" id="{9F50B855-FBFB-FAA7-9A80-119FEC3D788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5919" y="6285329"/>
            <a:ext cx="1007689" cy="471307"/>
          </a:xfrm>
          <a:prstGeom prst="rect">
            <a:avLst/>
          </a:prstGeom>
        </p:spPr>
      </p:pic>
      <p:pic>
        <p:nvPicPr>
          <p:cNvPr id="9" name="Рисунок 8">
            <a:extLst>
              <a:ext uri="{FF2B5EF4-FFF2-40B4-BE49-F238E27FC236}">
                <a16:creationId xmlns:a16="http://schemas.microsoft.com/office/drawing/2014/main" id="{E22BF9C4-3C8E-18AE-A1ED-D4D64542024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324586" y="6315453"/>
            <a:ext cx="493286" cy="441183"/>
          </a:xfrm>
          <a:prstGeom prst="rect">
            <a:avLst/>
          </a:prstGeom>
        </p:spPr>
      </p:pic>
      <p:sp>
        <p:nvSpPr>
          <p:cNvPr id="15" name="PlaceHolder 2">
            <a:extLst>
              <a:ext uri="{FF2B5EF4-FFF2-40B4-BE49-F238E27FC236}">
                <a16:creationId xmlns:a16="http://schemas.microsoft.com/office/drawing/2014/main" id="{B1457CC0-5891-BE90-A7CF-472429F353A0}"/>
              </a:ext>
            </a:extLst>
          </p:cNvPr>
          <p:cNvSpPr txBox="1">
            <a:spLocks/>
          </p:cNvSpPr>
          <p:nvPr/>
        </p:nvSpPr>
        <p:spPr>
          <a:xfrm>
            <a:off x="457200" y="1750320"/>
            <a:ext cx="3729600" cy="3435480"/>
          </a:xfrm>
          <a:prstGeom prst="rect">
            <a:avLst/>
          </a:prstGeom>
          <a:noFill/>
          <a:ln w="0">
            <a:noFill/>
          </a:ln>
        </p:spPr>
        <p:txBody>
          <a:bodyPr vert="horz" lIns="91440" tIns="45720" rIns="91440" bIns="45720" rtlCol="0" anchor="t">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171360">
              <a:spcBef>
                <a:spcPts val="751"/>
              </a:spcBef>
              <a:tabLst>
                <a:tab pos="0" algn="l"/>
              </a:tabLst>
            </a:pPr>
            <a:r>
              <a:rPr lang="en-US" sz="2100" dirty="0">
                <a:solidFill>
                  <a:schemeClr val="dk1"/>
                </a:solidFill>
                <a:latin typeface="Calibri"/>
              </a:rPr>
              <a:t>Conclusion</a:t>
            </a:r>
            <a:endParaRPr lang="en-US" sz="2100" dirty="0">
              <a:solidFill>
                <a:srgbClr val="000000"/>
              </a:solidFill>
              <a:latin typeface="Arial"/>
            </a:endParaRPr>
          </a:p>
          <a:p>
            <a:pPr marL="864000" lvl="1" indent="-324000" algn="just" defTabSz="685800">
              <a:lnSpc>
                <a:spcPct val="90000"/>
              </a:lnSpc>
              <a:spcBef>
                <a:spcPts val="1134"/>
              </a:spcBef>
              <a:buClr>
                <a:srgbClr val="000000"/>
              </a:buClr>
              <a:buSzPct val="75000"/>
              <a:buFont typeface="Symbol" charset="2"/>
              <a:buChar char=""/>
              <a:tabLst>
                <a:tab pos="0" algn="l"/>
              </a:tabLst>
            </a:pPr>
            <a:r>
              <a:rPr lang="en-US" sz="1500" kern="0" dirty="0">
                <a:solidFill>
                  <a:schemeClr val="dk1"/>
                </a:solidFill>
                <a:latin typeface="Calibri"/>
              </a:rPr>
              <a:t>The management of supply chain security within critical IT infrastructure remains a vital concern, as the frequency of incidents continues to rise despite the development of new standards and tools, as shown in Figure 9.</a:t>
            </a:r>
            <a:endParaRPr lang="en-US" sz="1500" kern="0" dirty="0">
              <a:solidFill>
                <a:srgbClr val="000000"/>
              </a:solidFill>
              <a:latin typeface="Arial"/>
            </a:endParaRPr>
          </a:p>
          <a:p>
            <a:pPr marL="864000" lvl="1" indent="-324000" algn="just" defTabSz="685800">
              <a:lnSpc>
                <a:spcPct val="90000"/>
              </a:lnSpc>
              <a:spcBef>
                <a:spcPts val="1134"/>
              </a:spcBef>
              <a:buClr>
                <a:srgbClr val="000000"/>
              </a:buClr>
              <a:buSzPct val="75000"/>
              <a:buFont typeface="Symbol" charset="2"/>
              <a:buChar char=""/>
              <a:tabLst>
                <a:tab pos="0" algn="l"/>
              </a:tabLst>
            </a:pPr>
            <a:r>
              <a:rPr lang="en-US" sz="1500" kern="0" dirty="0">
                <a:solidFill>
                  <a:schemeClr val="dk1"/>
                </a:solidFill>
                <a:latin typeface="Calibri"/>
              </a:rPr>
              <a:t>Future work will focus on considering a more advanced experiment utilizing an attackers vs. defenders simulation that leverages small local models.</a:t>
            </a:r>
            <a:endParaRPr lang="en-US" sz="1500" kern="0" dirty="0">
              <a:solidFill>
                <a:srgbClr val="000000"/>
              </a:solidFill>
              <a:latin typeface="Arial"/>
            </a:endParaRPr>
          </a:p>
          <a:p>
            <a:pPr marL="171360">
              <a:spcBef>
                <a:spcPts val="751"/>
              </a:spcBef>
              <a:tabLst>
                <a:tab pos="0" algn="l"/>
              </a:tabLst>
            </a:pPr>
            <a:endParaRPr lang="en-US" sz="2100" dirty="0">
              <a:solidFill>
                <a:srgbClr val="000000"/>
              </a:solidFill>
              <a:latin typeface="Arial"/>
            </a:endParaRPr>
          </a:p>
        </p:txBody>
      </p:sp>
      <p:sp>
        <p:nvSpPr>
          <p:cNvPr id="16" name="Rectangle 15">
            <a:extLst>
              <a:ext uri="{FF2B5EF4-FFF2-40B4-BE49-F238E27FC236}">
                <a16:creationId xmlns:a16="http://schemas.microsoft.com/office/drawing/2014/main" id="{45F5D97B-DA17-869B-92A3-198C076D9F43}"/>
              </a:ext>
            </a:extLst>
          </p:cNvPr>
          <p:cNvSpPr/>
          <p:nvPr/>
        </p:nvSpPr>
        <p:spPr>
          <a:xfrm>
            <a:off x="4415400" y="4919400"/>
            <a:ext cx="4176360" cy="63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200" b="0" u="none" strike="noStrike">
                <a:solidFill>
                  <a:srgbClr val="000000"/>
                </a:solidFill>
                <a:effectLst/>
                <a:uFillTx/>
                <a:latin typeface="Arial"/>
                <a:ea typeface="DejaVu Sans"/>
              </a:rPr>
              <a:t>Figure 9: Example of single threat actor with a relationship to his produced compromised packages in a simulation iteration.</a:t>
            </a:r>
            <a:endParaRPr lang="en-US" sz="1200" b="0" u="none" strike="noStrike">
              <a:solidFill>
                <a:srgbClr val="000000"/>
              </a:solidFill>
              <a:effectLst/>
              <a:uFillTx/>
              <a:latin typeface="Arial"/>
            </a:endParaRPr>
          </a:p>
        </p:txBody>
      </p:sp>
      <p:pic>
        <p:nvPicPr>
          <p:cNvPr id="17" name="Picture 16">
            <a:extLst>
              <a:ext uri="{FF2B5EF4-FFF2-40B4-BE49-F238E27FC236}">
                <a16:creationId xmlns:a16="http://schemas.microsoft.com/office/drawing/2014/main" id="{08658E50-2474-46F2-806D-4169D80A2579}"/>
              </a:ext>
            </a:extLst>
          </p:cNvPr>
          <p:cNvPicPr/>
          <p:nvPr/>
        </p:nvPicPr>
        <p:blipFill>
          <a:blip r:embed="rId11"/>
          <a:srcRect t="6661" r="51228" b="65381"/>
          <a:stretch/>
        </p:blipFill>
        <p:spPr>
          <a:xfrm>
            <a:off x="4415400" y="1443600"/>
            <a:ext cx="4187880" cy="3360600"/>
          </a:xfrm>
          <a:prstGeom prst="rect">
            <a:avLst/>
          </a:prstGeom>
          <a:noFill/>
          <a:ln w="0">
            <a:noFill/>
          </a:ln>
        </p:spPr>
      </p:pic>
    </p:spTree>
    <p:extLst>
      <p:ext uri="{BB962C8B-B14F-4D97-AF65-F5344CB8AC3E}">
        <p14:creationId xmlns:p14="http://schemas.microsoft.com/office/powerpoint/2010/main" val="1237122959"/>
      </p:ext>
    </p:extLst>
  </p:cSld>
  <p:clrMapOvr>
    <a:masterClrMapping/>
  </p:clrMapOvr>
  <p:transition spd="slow" advTm="70039"/>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14945-CA61-27A9-6DAA-181F9934FB1F}"/>
            </a:ext>
          </a:extLst>
        </p:cNvPr>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86FEA91F-C829-A466-83DC-E86A7B2669BB}"/>
              </a:ext>
            </a:extLst>
          </p:cNvPr>
          <p:cNvSpPr/>
          <p:nvPr/>
        </p:nvSpPr>
        <p:spPr>
          <a:xfrm>
            <a:off x="-5715" y="-66"/>
            <a:ext cx="9149715" cy="725570"/>
          </a:xfrm>
          <a:prstGeom prst="rect">
            <a:avLst/>
          </a:prstGeom>
          <a:gradFill flip="none" rotWithShape="1">
            <a:gsLst>
              <a:gs pos="35000">
                <a:srgbClr val="36ACD8"/>
              </a:gs>
              <a:gs pos="78000">
                <a:srgbClr val="2E6CA4"/>
              </a:gs>
              <a:gs pos="100000">
                <a:srgbClr val="2E76A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Прямоугольник 11">
            <a:extLst>
              <a:ext uri="{FF2B5EF4-FFF2-40B4-BE49-F238E27FC236}">
                <a16:creationId xmlns:a16="http://schemas.microsoft.com/office/drawing/2014/main" id="{46A2B181-706E-6B16-B56D-0C4B3D16047C}"/>
              </a:ext>
            </a:extLst>
          </p:cNvPr>
          <p:cNvSpPr/>
          <p:nvPr/>
        </p:nvSpPr>
        <p:spPr>
          <a:xfrm>
            <a:off x="8604448" y="-2906"/>
            <a:ext cx="206809" cy="79665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13" name="Пятиугольник 84">
            <a:extLst>
              <a:ext uri="{FF2B5EF4-FFF2-40B4-BE49-F238E27FC236}">
                <a16:creationId xmlns:a16="http://schemas.microsoft.com/office/drawing/2014/main" id="{4B0C497F-08B0-D82F-1C46-E49F24789A73}"/>
              </a:ext>
            </a:extLst>
          </p:cNvPr>
          <p:cNvSpPr/>
          <p:nvPr/>
        </p:nvSpPr>
        <p:spPr>
          <a:xfrm rot="5400000">
            <a:off x="16369" y="101765"/>
            <a:ext cx="901896" cy="698366"/>
          </a:xfrm>
          <a:prstGeom prst="homePlate">
            <a:avLst>
              <a:gd name="adj" fmla="val 22381"/>
            </a:avLst>
          </a:prstGeom>
          <a:solidFill>
            <a:srgbClr val="1CBA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4" name="Рисунок 13">
            <a:extLst>
              <a:ext uri="{FF2B5EF4-FFF2-40B4-BE49-F238E27FC236}">
                <a16:creationId xmlns:a16="http://schemas.microsoft.com/office/drawing/2014/main" id="{B03E6E86-5DF5-F156-DC9E-4D6F39EFE53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70541" y="276220"/>
            <a:ext cx="593734" cy="305513"/>
          </a:xfrm>
          <a:prstGeom prst="rect">
            <a:avLst/>
          </a:prstGeom>
        </p:spPr>
      </p:pic>
      <p:sp>
        <p:nvSpPr>
          <p:cNvPr id="7" name="Заголовок 6">
            <a:extLst>
              <a:ext uri="{FF2B5EF4-FFF2-40B4-BE49-F238E27FC236}">
                <a16:creationId xmlns:a16="http://schemas.microsoft.com/office/drawing/2014/main" id="{C0CAD1A8-6CFC-6A22-BCF4-4E5E37AC818D}"/>
              </a:ext>
            </a:extLst>
          </p:cNvPr>
          <p:cNvSpPr>
            <a:spLocks noGrp="1"/>
          </p:cNvSpPr>
          <p:nvPr>
            <p:ph type="title"/>
          </p:nvPr>
        </p:nvSpPr>
        <p:spPr>
          <a:xfrm>
            <a:off x="240673" y="59887"/>
            <a:ext cx="3311525" cy="369332"/>
          </a:xfrm>
        </p:spPr>
        <p:txBody>
          <a:bodyPr>
            <a:spAutoFit/>
          </a:bodyPr>
          <a:lstStyle/>
          <a:p>
            <a:pPr algn="ctr" eaLnBrk="1" hangingPunct="1">
              <a:spcAft>
                <a:spcPts val="0"/>
              </a:spcAft>
              <a:defRPr/>
            </a:pP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20</a:t>
            </a:r>
            <a:r>
              <a:rPr lang="uk-UA"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2</a:t>
            </a:r>
            <a:r>
              <a:rPr lang="ru-RU" sz="2000" b="1"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6</a:t>
            </a: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 </a:t>
            </a:r>
            <a:r>
              <a:rPr lang="en-US" sz="2000" b="1"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IEEE </a:t>
            </a:r>
            <a:r>
              <a:rPr lang="en-US" sz="2000" b="1" kern="12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rPr>
              <a:t>SIST</a:t>
            </a:r>
            <a:endParaRPr lang="uk-UA" sz="2000" dirty="0">
              <a:solidFill>
                <a:schemeClr val="bg1"/>
              </a:solidFill>
              <a:effectLst>
                <a:outerShdw blurRad="38100" dist="38100" dir="2700000" algn="tl">
                  <a:srgbClr val="000000">
                    <a:alpha val="43137"/>
                  </a:srgbClr>
                </a:outerShdw>
              </a:effectLst>
              <a:latin typeface="Times New Roman" pitchFamily="18" charset="0"/>
              <a:ea typeface="Times New Roman"/>
              <a:cs typeface="Times New Roman" pitchFamily="18" charset="0"/>
            </a:endParaRPr>
          </a:p>
        </p:txBody>
      </p:sp>
      <p:pic>
        <p:nvPicPr>
          <p:cNvPr id="28" name="Рисунок 27">
            <a:extLst>
              <a:ext uri="{FF2B5EF4-FFF2-40B4-BE49-F238E27FC236}">
                <a16:creationId xmlns:a16="http://schemas.microsoft.com/office/drawing/2014/main" id="{2CCE5A5A-6C6D-C7B8-F5DF-EA633A450A2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839663" y="-2906"/>
            <a:ext cx="1304337" cy="796656"/>
          </a:xfrm>
          <a:prstGeom prst="rect">
            <a:avLst/>
          </a:prstGeom>
        </p:spPr>
      </p:pic>
      <p:sp>
        <p:nvSpPr>
          <p:cNvPr id="27" name="Прямоугольник 26">
            <a:extLst>
              <a:ext uri="{FF2B5EF4-FFF2-40B4-BE49-F238E27FC236}">
                <a16:creationId xmlns:a16="http://schemas.microsoft.com/office/drawing/2014/main" id="{8A3A590D-9A00-8A20-274B-09ABBBFB02B3}"/>
              </a:ext>
            </a:extLst>
          </p:cNvPr>
          <p:cNvSpPr/>
          <p:nvPr/>
        </p:nvSpPr>
        <p:spPr>
          <a:xfrm>
            <a:off x="0" y="6146441"/>
            <a:ext cx="9149715" cy="725570"/>
          </a:xfrm>
          <a:prstGeom prst="rect">
            <a:avLst/>
          </a:prstGeom>
          <a:gradFill flip="none" rotWithShape="1">
            <a:gsLst>
              <a:gs pos="35000">
                <a:srgbClr val="36ACD8"/>
              </a:gs>
              <a:gs pos="78000">
                <a:srgbClr val="2E6CA4"/>
              </a:gs>
              <a:gs pos="100000">
                <a:srgbClr val="2E76A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a:p>
        </p:txBody>
      </p:sp>
      <p:pic>
        <p:nvPicPr>
          <p:cNvPr id="2" name="Picture 7" descr="A blue text on a black background&#10;&#10;Description automatically generated">
            <a:extLst>
              <a:ext uri="{FF2B5EF4-FFF2-40B4-BE49-F238E27FC236}">
                <a16:creationId xmlns:a16="http://schemas.microsoft.com/office/drawing/2014/main" id="{4673D6DA-E514-9F63-69DD-79AD54F2925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296263" y="6342108"/>
            <a:ext cx="1076787" cy="387872"/>
          </a:xfrm>
          <a:prstGeom prst="rect">
            <a:avLst/>
          </a:prstGeom>
        </p:spPr>
      </p:pic>
      <p:pic>
        <p:nvPicPr>
          <p:cNvPr id="3" name="Рисунок 2" descr="Изображение выглядит как Шрифт, Графика, текст, круг&#10;&#10;Автоматически созданное описание">
            <a:extLst>
              <a:ext uri="{FF2B5EF4-FFF2-40B4-BE49-F238E27FC236}">
                <a16:creationId xmlns:a16="http://schemas.microsoft.com/office/drawing/2014/main" id="{72D3D089-0981-5068-A99F-DFAE61A64DFD}"/>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020678" y="6334640"/>
            <a:ext cx="784691" cy="402808"/>
          </a:xfrm>
          <a:prstGeom prst="rect">
            <a:avLst/>
          </a:prstGeom>
        </p:spPr>
      </p:pic>
      <p:pic>
        <p:nvPicPr>
          <p:cNvPr id="4" name="Рисунок 3">
            <a:extLst>
              <a:ext uri="{FF2B5EF4-FFF2-40B4-BE49-F238E27FC236}">
                <a16:creationId xmlns:a16="http://schemas.microsoft.com/office/drawing/2014/main" id="{24E19277-9487-7F53-1A06-2090FA550126}"/>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24003" y="6273572"/>
            <a:ext cx="1174783" cy="471307"/>
          </a:xfrm>
          <a:prstGeom prst="rect">
            <a:avLst/>
          </a:prstGeom>
          <a:noFill/>
          <a:ln>
            <a:noFill/>
          </a:ln>
        </p:spPr>
      </p:pic>
      <p:pic>
        <p:nvPicPr>
          <p:cNvPr id="5" name="Рисунок 4">
            <a:extLst>
              <a:ext uri="{FF2B5EF4-FFF2-40B4-BE49-F238E27FC236}">
                <a16:creationId xmlns:a16="http://schemas.microsoft.com/office/drawing/2014/main" id="{E0D46EC4-BF34-01C6-D749-14EDA0868C2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44140" y="6259474"/>
            <a:ext cx="412394" cy="538174"/>
          </a:xfrm>
          <a:prstGeom prst="rect">
            <a:avLst/>
          </a:prstGeom>
        </p:spPr>
      </p:pic>
      <p:pic>
        <p:nvPicPr>
          <p:cNvPr id="6" name="Рисунок 5">
            <a:extLst>
              <a:ext uri="{FF2B5EF4-FFF2-40B4-BE49-F238E27FC236}">
                <a16:creationId xmlns:a16="http://schemas.microsoft.com/office/drawing/2014/main" id="{D075FA2C-5718-330C-2BA2-4C43EFA93EB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18404" y="6273572"/>
            <a:ext cx="1060923" cy="509978"/>
          </a:xfrm>
          <a:prstGeom prst="rect">
            <a:avLst/>
          </a:prstGeom>
        </p:spPr>
      </p:pic>
      <p:pic>
        <p:nvPicPr>
          <p:cNvPr id="8" name="Рисунок 7">
            <a:extLst>
              <a:ext uri="{FF2B5EF4-FFF2-40B4-BE49-F238E27FC236}">
                <a16:creationId xmlns:a16="http://schemas.microsoft.com/office/drawing/2014/main" id="{8E721499-F3FA-4F84-96F1-72B6E9358AE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5919" y="6285329"/>
            <a:ext cx="1007689" cy="471307"/>
          </a:xfrm>
          <a:prstGeom prst="rect">
            <a:avLst/>
          </a:prstGeom>
        </p:spPr>
      </p:pic>
      <p:pic>
        <p:nvPicPr>
          <p:cNvPr id="9" name="Рисунок 8">
            <a:extLst>
              <a:ext uri="{FF2B5EF4-FFF2-40B4-BE49-F238E27FC236}">
                <a16:creationId xmlns:a16="http://schemas.microsoft.com/office/drawing/2014/main" id="{764DBF4D-B42B-439B-0173-A76530BD36A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324586" y="6315453"/>
            <a:ext cx="493286" cy="441183"/>
          </a:xfrm>
          <a:prstGeom prst="rect">
            <a:avLst/>
          </a:prstGeom>
        </p:spPr>
      </p:pic>
      <p:sp>
        <p:nvSpPr>
          <p:cNvPr id="18" name="PlaceHolder 2">
            <a:extLst>
              <a:ext uri="{FF2B5EF4-FFF2-40B4-BE49-F238E27FC236}">
                <a16:creationId xmlns:a16="http://schemas.microsoft.com/office/drawing/2014/main" id="{1066C263-98B2-897C-BF83-AFB430632074}"/>
              </a:ext>
            </a:extLst>
          </p:cNvPr>
          <p:cNvSpPr txBox="1">
            <a:spLocks/>
          </p:cNvSpPr>
          <p:nvPr/>
        </p:nvSpPr>
        <p:spPr>
          <a:xfrm>
            <a:off x="616680" y="1568160"/>
            <a:ext cx="7885080" cy="4349520"/>
          </a:xfrm>
          <a:prstGeom prst="rect">
            <a:avLst/>
          </a:prstGeom>
          <a:noFill/>
          <a:ln w="0">
            <a:noFill/>
          </a:ln>
        </p:spPr>
        <p:txBody>
          <a:bodyPr vert="horz" lIns="91440" tIns="45720" rIns="91440" bIns="45720" rtlCol="0" anchor="t">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171360">
              <a:spcBef>
                <a:spcPts val="751"/>
              </a:spcBef>
              <a:tabLst>
                <a:tab pos="0" algn="l"/>
              </a:tabLst>
            </a:pPr>
            <a:r>
              <a:rPr lang="en-US" sz="2100">
                <a:solidFill>
                  <a:schemeClr val="dk1"/>
                </a:solidFill>
                <a:latin typeface="Calibri"/>
              </a:rPr>
              <a:t>References</a:t>
            </a:r>
            <a:endParaRPr lang="en-US" sz="2100">
              <a:solidFill>
                <a:srgbClr val="000000"/>
              </a:solidFill>
              <a:latin typeface="Arial"/>
            </a:endParaRPr>
          </a:p>
          <a:p>
            <a:pPr marL="864000" lvl="1" indent="-324000" algn="just" defTabSz="685800">
              <a:lnSpc>
                <a:spcPct val="90000"/>
              </a:lnSpc>
              <a:spcBef>
                <a:spcPts val="1134"/>
              </a:spcBef>
              <a:buClr>
                <a:srgbClr val="000000"/>
              </a:buClr>
              <a:buSzPct val="75000"/>
              <a:buFont typeface="Symbol" charset="2"/>
              <a:buChar char=""/>
              <a:tabLst>
                <a:tab pos="0" algn="l"/>
              </a:tabLst>
            </a:pPr>
            <a:r>
              <a:rPr lang="en-US" sz="1500" kern="0" dirty="0">
                <a:solidFill>
                  <a:schemeClr val="dk1"/>
                </a:solidFill>
                <a:latin typeface="Calibri"/>
              </a:rPr>
              <a:t>Source files are provided in: </a:t>
            </a:r>
            <a:endParaRPr lang="en-US" sz="1500" kern="0" dirty="0">
              <a:solidFill>
                <a:srgbClr val="000000"/>
              </a:solidFill>
              <a:latin typeface="Arial"/>
            </a:endParaRPr>
          </a:p>
          <a:p>
            <a:pPr marL="1296000" lvl="2" indent="-288000" algn="just" defTabSz="685800">
              <a:lnSpc>
                <a:spcPct val="90000"/>
              </a:lnSpc>
              <a:spcBef>
                <a:spcPts val="850"/>
              </a:spcBef>
              <a:buClr>
                <a:srgbClr val="000000"/>
              </a:buClr>
              <a:buSzPct val="45000"/>
              <a:buFont typeface="Wingdings" charset="2"/>
              <a:buChar char=""/>
              <a:tabLst>
                <a:tab pos="0" algn="l"/>
              </a:tabLst>
            </a:pPr>
            <a:r>
              <a:rPr lang="en-US" sz="1500" kern="0" dirty="0">
                <a:solidFill>
                  <a:schemeClr val="dk1"/>
                </a:solidFill>
                <a:latin typeface="Calibri"/>
                <a:hlinkClick r:id="rId11"/>
              </a:rPr>
              <a:t>https://github.com/NoyanTM/aitu-sist-2026_research-paper</a:t>
            </a:r>
            <a:endParaRPr lang="en-US" sz="1500" kern="0" dirty="0">
              <a:solidFill>
                <a:srgbClr val="000000"/>
              </a:solidFill>
              <a:latin typeface="Arial"/>
            </a:endParaRPr>
          </a:p>
          <a:p>
            <a:pPr marL="1296000" lvl="2" indent="-288000" algn="just" defTabSz="685800">
              <a:lnSpc>
                <a:spcPct val="90000"/>
              </a:lnSpc>
              <a:spcBef>
                <a:spcPts val="850"/>
              </a:spcBef>
              <a:buClr>
                <a:srgbClr val="000000"/>
              </a:buClr>
              <a:buSzPct val="45000"/>
              <a:buFont typeface="Wingdings" charset="2"/>
              <a:buChar char=""/>
              <a:tabLst>
                <a:tab pos="0" algn="l"/>
              </a:tabLst>
            </a:pPr>
            <a:r>
              <a:rPr lang="en-US" sz="1500" kern="0" dirty="0">
                <a:solidFill>
                  <a:schemeClr val="dk1"/>
                </a:solidFill>
                <a:latin typeface="Calibri"/>
              </a:rPr>
              <a:t>Contact to me as @noyantendikov in Telegram and to related </a:t>
            </a:r>
            <a:r>
              <a:rPr lang="en-US" sz="1500" kern="0" dirty="0" err="1">
                <a:solidFill>
                  <a:schemeClr val="dk1"/>
                </a:solidFill>
                <a:latin typeface="Calibri"/>
              </a:rPr>
              <a:t>Github</a:t>
            </a:r>
            <a:r>
              <a:rPr lang="en-US" sz="1500" kern="0" dirty="0">
                <a:solidFill>
                  <a:schemeClr val="dk1"/>
                </a:solidFill>
                <a:latin typeface="Calibri"/>
              </a:rPr>
              <a:t> issues, if you are interested in contributions and participation</a:t>
            </a:r>
            <a:endParaRPr lang="en-US" sz="1500" kern="0" dirty="0">
              <a:solidFill>
                <a:srgbClr val="000000"/>
              </a:solidFill>
              <a:latin typeface="Arial"/>
            </a:endParaRPr>
          </a:p>
          <a:p>
            <a:pPr marL="864000" lvl="1" indent="-324000" algn="just" defTabSz="685800">
              <a:lnSpc>
                <a:spcPct val="90000"/>
              </a:lnSpc>
              <a:spcBef>
                <a:spcPts val="1134"/>
              </a:spcBef>
              <a:buClr>
                <a:srgbClr val="000000"/>
              </a:buClr>
              <a:buSzPct val="75000"/>
              <a:buFont typeface="Symbol" charset="2"/>
              <a:buChar char=""/>
              <a:tabLst>
                <a:tab pos="0" algn="l"/>
              </a:tabLst>
            </a:pPr>
            <a:r>
              <a:rPr lang="en-US" sz="1000" kern="0" dirty="0">
                <a:solidFill>
                  <a:schemeClr val="dk1"/>
                </a:solidFill>
                <a:latin typeface="Calibri"/>
              </a:rPr>
              <a:t>1. OWASP/Www-Project-Top-10-Infrastructure-Security-Risks. OWASP, Oct. 22, 2025. url: https://github.com/OWASP/www-project-top-10-infrastructure-security-risks (visited on 11/05/2025).</a:t>
            </a:r>
            <a:endParaRPr lang="en-US" sz="1000" kern="0" dirty="0">
              <a:solidFill>
                <a:srgbClr val="000000"/>
              </a:solidFill>
              <a:latin typeface="Arial"/>
            </a:endParaRPr>
          </a:p>
          <a:p>
            <a:pPr marL="864000" lvl="1" indent="-324000" algn="just" defTabSz="685800">
              <a:lnSpc>
                <a:spcPct val="90000"/>
              </a:lnSpc>
              <a:spcBef>
                <a:spcPts val="1134"/>
              </a:spcBef>
              <a:buClr>
                <a:srgbClr val="000000"/>
              </a:buClr>
              <a:buSzPct val="75000"/>
              <a:buFont typeface="Symbol" charset="2"/>
              <a:buChar char=""/>
              <a:tabLst>
                <a:tab pos="0" algn="l"/>
              </a:tabLst>
            </a:pPr>
            <a:r>
              <a:rPr lang="en-US" sz="1000" kern="0" dirty="0">
                <a:solidFill>
                  <a:schemeClr val="dk1"/>
                </a:solidFill>
                <a:latin typeface="Calibri"/>
              </a:rPr>
              <a:t>2.  European Cyber Security </a:t>
            </a:r>
            <a:r>
              <a:rPr lang="en-US" sz="1000" kern="0" dirty="0" err="1">
                <a:solidFill>
                  <a:schemeClr val="dk1"/>
                </a:solidFill>
                <a:latin typeface="Calibri"/>
              </a:rPr>
              <a:t>Organisation</a:t>
            </a:r>
            <a:r>
              <a:rPr lang="en-US" sz="1000" kern="0" dirty="0">
                <a:solidFill>
                  <a:schemeClr val="dk1"/>
                </a:solidFill>
                <a:latin typeface="Calibri"/>
              </a:rPr>
              <a:t> (ECSO). Technical Paper: Software Supply Chain Security. Tech. rep. WG6. European Cyber Security </a:t>
            </a:r>
            <a:r>
              <a:rPr lang="en-US" sz="1000" kern="0" dirty="0" err="1">
                <a:solidFill>
                  <a:schemeClr val="dk1"/>
                </a:solidFill>
                <a:latin typeface="Calibri"/>
              </a:rPr>
              <a:t>Organisation</a:t>
            </a:r>
            <a:r>
              <a:rPr lang="en-US" sz="1000" kern="0" dirty="0">
                <a:solidFill>
                  <a:schemeClr val="dk1"/>
                </a:solidFill>
                <a:latin typeface="Calibri"/>
              </a:rPr>
              <a:t>, Sept. 2024. url: https://ecs-org.eu/ecso-uploads/2024/09/ECSO-WG6-Technical-Paper-%E2%80%94-Software-Supply-Chain-Security.pdf.</a:t>
            </a:r>
            <a:endParaRPr lang="en-US" sz="1000" kern="0" dirty="0">
              <a:solidFill>
                <a:srgbClr val="000000"/>
              </a:solidFill>
              <a:latin typeface="Arial"/>
            </a:endParaRPr>
          </a:p>
          <a:p>
            <a:pPr marL="864000" lvl="1" indent="-324000" algn="just" defTabSz="685800">
              <a:lnSpc>
                <a:spcPct val="90000"/>
              </a:lnSpc>
              <a:spcBef>
                <a:spcPts val="1134"/>
              </a:spcBef>
              <a:buClr>
                <a:srgbClr val="000000"/>
              </a:buClr>
              <a:buSzPct val="75000"/>
              <a:buFont typeface="Symbol" charset="2"/>
              <a:buChar char=""/>
              <a:tabLst>
                <a:tab pos="0" algn="l"/>
              </a:tabLst>
            </a:pPr>
            <a:r>
              <a:rPr lang="en-US" sz="1000" kern="0" dirty="0">
                <a:solidFill>
                  <a:schemeClr val="dk1"/>
                </a:solidFill>
                <a:latin typeface="Calibri"/>
              </a:rPr>
              <a:t>3. Abe Singer and Matt Bishop. “Trust-Based Security; Or, Trust Considered Harmful”. In: New Security Paradigms Workshop 2020. NSPW ’20: New Security Paradigms Workshop 2020. Online USA: ACM, Oct. 26, 2020, pp. 76–89. </a:t>
            </a:r>
            <a:r>
              <a:rPr lang="en-US" sz="1000" kern="0" dirty="0" err="1">
                <a:solidFill>
                  <a:schemeClr val="dk1"/>
                </a:solidFill>
                <a:latin typeface="Calibri"/>
              </a:rPr>
              <a:t>isbn</a:t>
            </a:r>
            <a:r>
              <a:rPr lang="en-US" sz="1000" kern="0" dirty="0">
                <a:solidFill>
                  <a:schemeClr val="dk1"/>
                </a:solidFill>
                <a:latin typeface="Calibri"/>
              </a:rPr>
              <a:t>: 978-1-4503-8995-2. </a:t>
            </a:r>
            <a:r>
              <a:rPr lang="en-US" sz="1000" kern="0" dirty="0" err="1">
                <a:solidFill>
                  <a:schemeClr val="dk1"/>
                </a:solidFill>
                <a:latin typeface="Calibri"/>
              </a:rPr>
              <a:t>doi</a:t>
            </a:r>
            <a:r>
              <a:rPr lang="en-US" sz="1000" kern="0" dirty="0">
                <a:solidFill>
                  <a:schemeClr val="dk1"/>
                </a:solidFill>
                <a:latin typeface="Calibri"/>
              </a:rPr>
              <a:t>: 10.1145/3442167.3442179. url: https://dl.acm.org/doi/10.1145/3442167.3442179 (visited on 12/01/2025).</a:t>
            </a:r>
            <a:endParaRPr lang="en-US" sz="1000" kern="0" dirty="0">
              <a:solidFill>
                <a:srgbClr val="000000"/>
              </a:solidFill>
              <a:latin typeface="Arial"/>
            </a:endParaRPr>
          </a:p>
          <a:p>
            <a:pPr marL="864000" lvl="1" indent="-324000" algn="just" defTabSz="685800">
              <a:lnSpc>
                <a:spcPct val="90000"/>
              </a:lnSpc>
              <a:spcBef>
                <a:spcPts val="1134"/>
              </a:spcBef>
              <a:buClr>
                <a:srgbClr val="000000"/>
              </a:buClr>
              <a:buSzPct val="75000"/>
              <a:buFont typeface="Symbol" charset="2"/>
              <a:buChar char=""/>
              <a:tabLst>
                <a:tab pos="0" algn="l"/>
              </a:tabLst>
            </a:pPr>
            <a:r>
              <a:rPr lang="en-US" sz="1000" kern="0" dirty="0">
                <a:solidFill>
                  <a:schemeClr val="dk1"/>
                </a:solidFill>
                <a:latin typeface="Calibri"/>
              </a:rPr>
              <a:t>4. Scott Rose et al. Zero Trust Architecture. National Institute of Standards and Technology, Aug. 11, 2020. </a:t>
            </a:r>
            <a:r>
              <a:rPr lang="en-US" sz="1000" kern="0" dirty="0" err="1">
                <a:solidFill>
                  <a:schemeClr val="dk1"/>
                </a:solidFill>
                <a:latin typeface="Calibri"/>
              </a:rPr>
              <a:t>doi</a:t>
            </a:r>
            <a:r>
              <a:rPr lang="en-US" sz="1000" kern="0" dirty="0">
                <a:solidFill>
                  <a:schemeClr val="dk1"/>
                </a:solidFill>
                <a:latin typeface="Calibri"/>
              </a:rPr>
              <a:t>: 10.6028/NIST.SP.800-207. url: https://nvlpubs.nist.gov/nistpubs/SpecialPublications/NIST.SP.800-207.pdf (visited on 11/10/2025).</a:t>
            </a:r>
            <a:endParaRPr lang="en-US" sz="1000" kern="0" dirty="0">
              <a:solidFill>
                <a:srgbClr val="000000"/>
              </a:solidFill>
              <a:latin typeface="Arial"/>
            </a:endParaRPr>
          </a:p>
        </p:txBody>
      </p:sp>
    </p:spTree>
    <p:extLst>
      <p:ext uri="{BB962C8B-B14F-4D97-AF65-F5344CB8AC3E}">
        <p14:creationId xmlns:p14="http://schemas.microsoft.com/office/powerpoint/2010/main" val="2008508266"/>
      </p:ext>
    </p:extLst>
  </p:cSld>
  <p:clrMapOvr>
    <a:masterClrMapping/>
  </p:clrMapOvr>
  <p:transition spd="slow" advTm="70039"/>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7752</TotalTime>
  <Words>1434</Words>
  <Application>Microsoft Office PowerPoint</Application>
  <PresentationFormat>On-screen Show (4:3)</PresentationFormat>
  <Paragraphs>94</Paragraphs>
  <Slides>10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Calibri Light</vt:lpstr>
      <vt:lpstr>Symbol</vt:lpstr>
      <vt:lpstr>Times New Roman</vt:lpstr>
      <vt:lpstr>Wingdings</vt:lpstr>
      <vt:lpstr>Тема Office</vt:lpstr>
      <vt:lpstr>Customizable methodology for structured analysis of software within isolated computational environments to secure critical IT infrastructures</vt:lpstr>
      <vt:lpstr>2026 IEEE SIST</vt:lpstr>
      <vt:lpstr>2026 IEEE SIST</vt:lpstr>
      <vt:lpstr>2026 IEEE SIST</vt:lpstr>
      <vt:lpstr>2026 IEEE SIST</vt:lpstr>
      <vt:lpstr>2026 IEEE SIST</vt:lpstr>
      <vt:lpstr>2026 IEEE SIST</vt:lpstr>
      <vt:lpstr>2026 IEEE SIST</vt:lpstr>
      <vt:lpstr>2026 IEEE SIST</vt:lpstr>
      <vt:lpstr>2026 IEEE SIST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user</dc:creator>
  <cp:lastModifiedBy>Noyan Tendikov</cp:lastModifiedBy>
  <cp:revision>179</cp:revision>
  <dcterms:created xsi:type="dcterms:W3CDTF">2013-12-16T20:42:17Z</dcterms:created>
  <dcterms:modified xsi:type="dcterms:W3CDTF">2026-04-30T14:02:04Z</dcterms:modified>
</cp:coreProperties>
</file>